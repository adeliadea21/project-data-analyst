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Bricolage Grotesque" panose="020B0604020202020204" charset="0"/>
      <p:regular r:id="rId23"/>
    </p:embeddedFont>
    <p:embeddedFont>
      <p:font typeface="Bricolage Grotesque Bold" panose="020B0604020202020204" charset="0"/>
      <p:regular r:id="rId24"/>
    </p:embeddedFont>
    <p:embeddedFont>
      <p:font typeface="Bricolage Grotesque Medium" panose="020B0604020202020204" charset="0"/>
      <p:regular r:id="rId25"/>
    </p:embeddedFont>
    <p:embeddedFont>
      <p:font typeface="Calibri" panose="020F0502020204030204" pitchFamily="34" charset="0"/>
      <p:regular r:id="rId26"/>
      <p:bold r:id="rId27"/>
      <p:italic r:id="rId28"/>
      <p:boldItalic r:id="rId29"/>
    </p:embeddedFont>
    <p:embeddedFont>
      <p:font typeface="DM Sans Bold" panose="020B0604020202020204" charset="0"/>
      <p:regular r:id="rId30"/>
    </p:embeddedFont>
    <p:embeddedFont>
      <p:font typeface="Inter" panose="020B0604020202020204" charset="0"/>
      <p:regular r:id="rId31"/>
    </p:embeddedFont>
    <p:embeddedFont>
      <p:font typeface="Inter Medium" panose="020B0604020202020204" charset="0"/>
      <p:regular r:id="rId32"/>
    </p:embeddedFont>
    <p:embeddedFont>
      <p:font typeface="League Spartan" panose="020B0604020202020204" charset="0"/>
      <p:regular r:id="rId33"/>
    </p:embeddedFont>
    <p:embeddedFont>
      <p:font typeface="Montserrat" panose="00000500000000000000" pitchFamily="2" charset="0"/>
      <p:regular r:id="rId34"/>
      <p:bold r:id="rId35"/>
      <p:italic r:id="rId36"/>
      <p:boldItalic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776"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hyperlink" Target="https://github.com/adeliadea21"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www.linkedin.com/in/adelia-ekarle-40b102216/" TargetMode="External"/><Relationship Id="rId5" Type="http://schemas.openxmlformats.org/officeDocument/2006/relationships/image" Target="../media/image8.jpe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hyperlink" Target="https://drive.google.com/drive/folders/1AWksosjsTfN-Y7sukK3GzkImtAqSpf_8" TargetMode="Externa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18.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Freeform 3"/>
          <p:cNvSpPr/>
          <p:nvPr/>
        </p:nvSpPr>
        <p:spPr>
          <a:xfrm>
            <a:off x="-986449" y="-2942847"/>
            <a:ext cx="8572500" cy="8229600"/>
          </a:xfrm>
          <a:custGeom>
            <a:avLst/>
            <a:gdLst/>
            <a:ahLst/>
            <a:cxnLst/>
            <a:rect l="l" t="t" r="r" b="b"/>
            <a:pathLst>
              <a:path w="8572500" h="8229600">
                <a:moveTo>
                  <a:pt x="0" y="0"/>
                </a:moveTo>
                <a:lnTo>
                  <a:pt x="8572500" y="0"/>
                </a:lnTo>
                <a:lnTo>
                  <a:pt x="8572500" y="8229600"/>
                </a:lnTo>
                <a:lnTo>
                  <a:pt x="0" y="8229600"/>
                </a:lnTo>
                <a:lnTo>
                  <a:pt x="0" y="0"/>
                </a:lnTo>
                <a:close/>
              </a:path>
            </a:pathLst>
          </a:custGeom>
          <a:blipFill>
            <a:blip r:embed="rId3"/>
            <a:stretch>
              <a:fillRect/>
            </a:stretch>
          </a:blipFill>
        </p:spPr>
      </p:sp>
      <p:sp>
        <p:nvSpPr>
          <p:cNvPr id="4" name="Freeform 4"/>
          <p:cNvSpPr/>
          <p:nvPr/>
        </p:nvSpPr>
        <p:spPr>
          <a:xfrm>
            <a:off x="1028700" y="2383451"/>
            <a:ext cx="6557351" cy="5520097"/>
          </a:xfrm>
          <a:custGeom>
            <a:avLst/>
            <a:gdLst/>
            <a:ahLst/>
            <a:cxnLst/>
            <a:rect l="l" t="t" r="r" b="b"/>
            <a:pathLst>
              <a:path w="6557351" h="5520097">
                <a:moveTo>
                  <a:pt x="0" y="0"/>
                </a:moveTo>
                <a:lnTo>
                  <a:pt x="6557351" y="0"/>
                </a:lnTo>
                <a:lnTo>
                  <a:pt x="6557351" y="5520098"/>
                </a:lnTo>
                <a:lnTo>
                  <a:pt x="0" y="55200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11599878" y="8669474"/>
            <a:ext cx="5032955" cy="604641"/>
            <a:chOff x="0" y="0"/>
            <a:chExt cx="6710606" cy="806188"/>
          </a:xfrm>
        </p:grpSpPr>
        <p:grpSp>
          <p:nvGrpSpPr>
            <p:cNvPr id="6" name="Group 6"/>
            <p:cNvGrpSpPr/>
            <p:nvPr/>
          </p:nvGrpSpPr>
          <p:grpSpPr>
            <a:xfrm>
              <a:off x="0" y="0"/>
              <a:ext cx="6710606" cy="806188"/>
              <a:chOff x="0" y="0"/>
              <a:chExt cx="1325552" cy="159247"/>
            </a:xfrm>
          </p:grpSpPr>
          <p:sp>
            <p:nvSpPr>
              <p:cNvPr id="7" name="Freeform 7"/>
              <p:cNvSpPr/>
              <p:nvPr/>
            </p:nvSpPr>
            <p:spPr>
              <a:xfrm>
                <a:off x="0" y="0"/>
                <a:ext cx="1325552" cy="159247"/>
              </a:xfrm>
              <a:custGeom>
                <a:avLst/>
                <a:gdLst/>
                <a:ahLst/>
                <a:cxnLst/>
                <a:rect l="l" t="t" r="r" b="b"/>
                <a:pathLst>
                  <a:path w="1325552" h="159247">
                    <a:moveTo>
                      <a:pt x="78451" y="0"/>
                    </a:moveTo>
                    <a:lnTo>
                      <a:pt x="1247101" y="0"/>
                    </a:lnTo>
                    <a:cubicBezTo>
                      <a:pt x="1267908" y="0"/>
                      <a:pt x="1287862" y="8265"/>
                      <a:pt x="1302574" y="22978"/>
                    </a:cubicBezTo>
                    <a:cubicBezTo>
                      <a:pt x="1317287" y="37690"/>
                      <a:pt x="1325552" y="57644"/>
                      <a:pt x="1325552" y="78451"/>
                    </a:cubicBezTo>
                    <a:lnTo>
                      <a:pt x="1325552" y="80796"/>
                    </a:lnTo>
                    <a:cubicBezTo>
                      <a:pt x="1325552" y="124123"/>
                      <a:pt x="1290428" y="159247"/>
                      <a:pt x="1247101" y="159247"/>
                    </a:cubicBezTo>
                    <a:lnTo>
                      <a:pt x="78451" y="159247"/>
                    </a:lnTo>
                    <a:cubicBezTo>
                      <a:pt x="57644" y="159247"/>
                      <a:pt x="37690" y="150982"/>
                      <a:pt x="22978" y="136269"/>
                    </a:cubicBezTo>
                    <a:cubicBezTo>
                      <a:pt x="8265" y="121557"/>
                      <a:pt x="0" y="101603"/>
                      <a:pt x="0" y="80796"/>
                    </a:cubicBezTo>
                    <a:lnTo>
                      <a:pt x="0" y="78451"/>
                    </a:lnTo>
                    <a:cubicBezTo>
                      <a:pt x="0" y="35123"/>
                      <a:pt x="35123" y="0"/>
                      <a:pt x="78451" y="0"/>
                    </a:cubicBezTo>
                    <a:close/>
                  </a:path>
                </a:pathLst>
              </a:custGeom>
              <a:solidFill>
                <a:srgbClr val="000000"/>
              </a:solidFill>
            </p:spPr>
          </p:sp>
          <p:sp>
            <p:nvSpPr>
              <p:cNvPr id="8" name="TextBox 8"/>
              <p:cNvSpPr txBox="1"/>
              <p:nvPr/>
            </p:nvSpPr>
            <p:spPr>
              <a:xfrm>
                <a:off x="0" y="-38100"/>
                <a:ext cx="1325552" cy="197347"/>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0" y="152904"/>
              <a:ext cx="6710606" cy="462280"/>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PRESENTED BY ADEL</a:t>
              </a:r>
            </a:p>
          </p:txBody>
        </p:sp>
      </p:grpSp>
      <p:sp>
        <p:nvSpPr>
          <p:cNvPr id="10" name="Freeform 10"/>
          <p:cNvSpPr/>
          <p:nvPr/>
        </p:nvSpPr>
        <p:spPr>
          <a:xfrm>
            <a:off x="16632833" y="3067258"/>
            <a:ext cx="1252934" cy="1251820"/>
          </a:xfrm>
          <a:custGeom>
            <a:avLst/>
            <a:gdLst/>
            <a:ahLst/>
            <a:cxnLst/>
            <a:rect l="l" t="t" r="r" b="b"/>
            <a:pathLst>
              <a:path w="1252934" h="1251820">
                <a:moveTo>
                  <a:pt x="0" y="0"/>
                </a:moveTo>
                <a:lnTo>
                  <a:pt x="1252934" y="0"/>
                </a:lnTo>
                <a:lnTo>
                  <a:pt x="1252934" y="1251819"/>
                </a:lnTo>
                <a:lnTo>
                  <a:pt x="0" y="1251819"/>
                </a:lnTo>
                <a:lnTo>
                  <a:pt x="0" y="0"/>
                </a:lnTo>
                <a:close/>
              </a:path>
            </a:pathLst>
          </a:custGeom>
          <a:blipFill>
            <a:blip r:embed="rId6"/>
            <a:stretch>
              <a:fillRect/>
            </a:stretch>
          </a:blipFill>
        </p:spPr>
      </p:sp>
      <p:sp>
        <p:nvSpPr>
          <p:cNvPr id="11" name="TextBox 11"/>
          <p:cNvSpPr txBox="1"/>
          <p:nvPr/>
        </p:nvSpPr>
        <p:spPr>
          <a:xfrm>
            <a:off x="9757171" y="3788398"/>
            <a:ext cx="7502129" cy="2557804"/>
          </a:xfrm>
          <a:prstGeom prst="rect">
            <a:avLst/>
          </a:prstGeom>
        </p:spPr>
        <p:txBody>
          <a:bodyPr lIns="0" tIns="0" rIns="0" bIns="0" rtlCol="0" anchor="t">
            <a:spAutoFit/>
          </a:bodyPr>
          <a:lstStyle/>
          <a:p>
            <a:pPr algn="l">
              <a:lnSpc>
                <a:spcPts val="10217"/>
              </a:lnSpc>
              <a:spcBef>
                <a:spcPct val="0"/>
              </a:spcBef>
            </a:pPr>
            <a:r>
              <a:rPr lang="en-US" sz="7297" b="1">
                <a:solidFill>
                  <a:srgbClr val="000000"/>
                </a:solidFill>
                <a:latin typeface="Bricolage Grotesque Bold"/>
                <a:ea typeface="Bricolage Grotesque Bold"/>
                <a:cs typeface="Bricolage Grotesque Bold"/>
                <a:sym typeface="Bricolage Grotesque Bold"/>
              </a:rPr>
              <a:t>CAFE SALES  ANALYSIS</a:t>
            </a:r>
          </a:p>
        </p:txBody>
      </p:sp>
      <p:sp>
        <p:nvSpPr>
          <p:cNvPr id="12" name="TextBox 12"/>
          <p:cNvSpPr txBox="1"/>
          <p:nvPr/>
        </p:nvSpPr>
        <p:spPr>
          <a:xfrm>
            <a:off x="1815234" y="8917880"/>
            <a:ext cx="4984283" cy="356235"/>
          </a:xfrm>
          <a:prstGeom prst="rect">
            <a:avLst/>
          </a:prstGeom>
        </p:spPr>
        <p:txBody>
          <a:bodyPr lIns="0" tIns="0" rIns="0" bIns="0" rtlCol="0" anchor="t">
            <a:spAutoFit/>
          </a:bodyPr>
          <a:lstStyle/>
          <a:p>
            <a:pPr algn="l">
              <a:lnSpc>
                <a:spcPts val="2940"/>
              </a:lnSpc>
              <a:spcBef>
                <a:spcPct val="0"/>
              </a:spcBef>
            </a:pPr>
            <a:r>
              <a:rPr lang="en-US" sz="2100" b="1">
                <a:solidFill>
                  <a:srgbClr val="000000"/>
                </a:solidFill>
                <a:latin typeface="Inter Medium"/>
                <a:ea typeface="Inter Medium"/>
                <a:cs typeface="Inter Medium"/>
                <a:sym typeface="Inter Medium"/>
              </a:rPr>
              <a:t>BOOTCAMP DATA ANALYST BATCH 4</a:t>
            </a:r>
          </a:p>
        </p:txBody>
      </p:sp>
      <p:sp>
        <p:nvSpPr>
          <p:cNvPr id="13" name="Freeform 13"/>
          <p:cNvSpPr/>
          <p:nvPr/>
        </p:nvSpPr>
        <p:spPr>
          <a:xfrm>
            <a:off x="7586051" y="7863227"/>
            <a:ext cx="1252934" cy="1251820"/>
          </a:xfrm>
          <a:custGeom>
            <a:avLst/>
            <a:gdLst/>
            <a:ahLst/>
            <a:cxnLst/>
            <a:rect l="l" t="t" r="r" b="b"/>
            <a:pathLst>
              <a:path w="1252934" h="1251820">
                <a:moveTo>
                  <a:pt x="0" y="0"/>
                </a:moveTo>
                <a:lnTo>
                  <a:pt x="1252934" y="0"/>
                </a:lnTo>
                <a:lnTo>
                  <a:pt x="1252934" y="1251820"/>
                </a:lnTo>
                <a:lnTo>
                  <a:pt x="0" y="1251820"/>
                </a:lnTo>
                <a:lnTo>
                  <a:pt x="0" y="0"/>
                </a:lnTo>
                <a:close/>
              </a:path>
            </a:pathLst>
          </a:custGeom>
          <a:blipFill>
            <a:blip r:embed="rId6"/>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Freeform 3"/>
          <p:cNvSpPr/>
          <p:nvPr/>
        </p:nvSpPr>
        <p:spPr>
          <a:xfrm>
            <a:off x="-3087866" y="4614011"/>
            <a:ext cx="8572500" cy="8229600"/>
          </a:xfrm>
          <a:custGeom>
            <a:avLst/>
            <a:gdLst/>
            <a:ahLst/>
            <a:cxnLst/>
            <a:rect l="l" t="t" r="r" b="b"/>
            <a:pathLst>
              <a:path w="8572500" h="8229600">
                <a:moveTo>
                  <a:pt x="0" y="0"/>
                </a:moveTo>
                <a:lnTo>
                  <a:pt x="8572500" y="0"/>
                </a:lnTo>
                <a:lnTo>
                  <a:pt x="8572500" y="8229600"/>
                </a:lnTo>
                <a:lnTo>
                  <a:pt x="0" y="8229600"/>
                </a:lnTo>
                <a:lnTo>
                  <a:pt x="0" y="0"/>
                </a:lnTo>
                <a:close/>
              </a:path>
            </a:pathLst>
          </a:custGeom>
          <a:blipFill>
            <a:blip r:embed="rId3"/>
            <a:stretch>
              <a:fillRect/>
            </a:stretch>
          </a:blipFill>
        </p:spPr>
      </p:sp>
      <p:sp>
        <p:nvSpPr>
          <p:cNvPr id="4" name="TextBox 4"/>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02</a:t>
            </a:r>
          </a:p>
        </p:txBody>
      </p:sp>
      <p:grpSp>
        <p:nvGrpSpPr>
          <p:cNvPr id="5" name="Group 5"/>
          <p:cNvGrpSpPr/>
          <p:nvPr/>
        </p:nvGrpSpPr>
        <p:grpSpPr>
          <a:xfrm>
            <a:off x="9427987" y="7835185"/>
            <a:ext cx="1423115" cy="142311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8" name="TextBox 8"/>
          <p:cNvSpPr txBox="1"/>
          <p:nvPr/>
        </p:nvSpPr>
        <p:spPr>
          <a:xfrm>
            <a:off x="9829853" y="8349575"/>
            <a:ext cx="619383" cy="356235"/>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03</a:t>
            </a:r>
          </a:p>
        </p:txBody>
      </p:sp>
      <p:grpSp>
        <p:nvGrpSpPr>
          <p:cNvPr id="9" name="Group 9"/>
          <p:cNvGrpSpPr/>
          <p:nvPr/>
        </p:nvGrpSpPr>
        <p:grpSpPr>
          <a:xfrm>
            <a:off x="5507617" y="5536673"/>
            <a:ext cx="1423115" cy="142311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12" name="TextBox 12"/>
          <p:cNvSpPr txBox="1"/>
          <p:nvPr/>
        </p:nvSpPr>
        <p:spPr>
          <a:xfrm>
            <a:off x="5909483" y="6051063"/>
            <a:ext cx="619383" cy="356235"/>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02</a:t>
            </a:r>
          </a:p>
        </p:txBody>
      </p:sp>
      <p:sp>
        <p:nvSpPr>
          <p:cNvPr id="13" name="TextBox 13"/>
          <p:cNvSpPr txBox="1"/>
          <p:nvPr/>
        </p:nvSpPr>
        <p:spPr>
          <a:xfrm>
            <a:off x="3171305" y="3796330"/>
            <a:ext cx="5612119" cy="306705"/>
          </a:xfrm>
          <a:prstGeom prst="rect">
            <a:avLst/>
          </a:prstGeom>
        </p:spPr>
        <p:txBody>
          <a:bodyPr lIns="0" tIns="0" rIns="0" bIns="0" rtlCol="0" anchor="t">
            <a:spAutoFit/>
          </a:bodyPr>
          <a:lstStyle/>
          <a:p>
            <a:pPr algn="l">
              <a:lnSpc>
                <a:spcPts val="2520"/>
              </a:lnSpc>
              <a:spcBef>
                <a:spcPct val="0"/>
              </a:spcBef>
            </a:pPr>
            <a:endParaRPr/>
          </a:p>
        </p:txBody>
      </p:sp>
      <p:sp>
        <p:nvSpPr>
          <p:cNvPr id="14" name="TextBox 14"/>
          <p:cNvSpPr txBox="1"/>
          <p:nvPr/>
        </p:nvSpPr>
        <p:spPr>
          <a:xfrm>
            <a:off x="3171305" y="3635317"/>
            <a:ext cx="4672623" cy="596431"/>
          </a:xfrm>
          <a:prstGeom prst="rect">
            <a:avLst/>
          </a:prstGeom>
        </p:spPr>
        <p:txBody>
          <a:bodyPr lIns="0" tIns="0" rIns="0" bIns="0" rtlCol="0" anchor="t">
            <a:spAutoFit/>
          </a:bodyPr>
          <a:lstStyle/>
          <a:p>
            <a:pPr algn="l">
              <a:lnSpc>
                <a:spcPts val="4895"/>
              </a:lnSpc>
              <a:spcBef>
                <a:spcPct val="0"/>
              </a:spcBef>
            </a:pPr>
            <a:r>
              <a:rPr lang="en-US" sz="3496" b="1">
                <a:solidFill>
                  <a:srgbClr val="000000"/>
                </a:solidFill>
                <a:latin typeface="Inter Medium"/>
                <a:ea typeface="Inter Medium"/>
                <a:cs typeface="Inter Medium"/>
                <a:sym typeface="Inter Medium"/>
              </a:rPr>
              <a:t>INTRODUCTION</a:t>
            </a:r>
          </a:p>
        </p:txBody>
      </p:sp>
      <p:grpSp>
        <p:nvGrpSpPr>
          <p:cNvPr id="15" name="Group 15"/>
          <p:cNvGrpSpPr/>
          <p:nvPr/>
        </p:nvGrpSpPr>
        <p:grpSpPr>
          <a:xfrm>
            <a:off x="1233520" y="3308570"/>
            <a:ext cx="1423115" cy="142311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18" name="TextBox 18"/>
          <p:cNvSpPr txBox="1"/>
          <p:nvPr/>
        </p:nvSpPr>
        <p:spPr>
          <a:xfrm>
            <a:off x="1635386" y="3822960"/>
            <a:ext cx="619383" cy="356235"/>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01</a:t>
            </a:r>
          </a:p>
        </p:txBody>
      </p:sp>
      <p:sp>
        <p:nvSpPr>
          <p:cNvPr id="19" name="Freeform 19"/>
          <p:cNvSpPr/>
          <p:nvPr/>
        </p:nvSpPr>
        <p:spPr>
          <a:xfrm>
            <a:off x="11421237" y="1773267"/>
            <a:ext cx="1252934" cy="1251820"/>
          </a:xfrm>
          <a:custGeom>
            <a:avLst/>
            <a:gdLst/>
            <a:ahLst/>
            <a:cxnLst/>
            <a:rect l="l" t="t" r="r" b="b"/>
            <a:pathLst>
              <a:path w="1252934" h="1251820">
                <a:moveTo>
                  <a:pt x="0" y="0"/>
                </a:moveTo>
                <a:lnTo>
                  <a:pt x="1252935" y="0"/>
                </a:lnTo>
                <a:lnTo>
                  <a:pt x="1252935" y="1251819"/>
                </a:lnTo>
                <a:lnTo>
                  <a:pt x="0" y="1251819"/>
                </a:lnTo>
                <a:lnTo>
                  <a:pt x="0" y="0"/>
                </a:lnTo>
                <a:close/>
              </a:path>
            </a:pathLst>
          </a:custGeom>
          <a:blipFill>
            <a:blip r:embed="rId4"/>
            <a:stretch>
              <a:fillRect/>
            </a:stretch>
          </a:blipFill>
        </p:spPr>
      </p:sp>
      <p:sp>
        <p:nvSpPr>
          <p:cNvPr id="20" name="TextBox 20"/>
          <p:cNvSpPr txBox="1"/>
          <p:nvPr/>
        </p:nvSpPr>
        <p:spPr>
          <a:xfrm>
            <a:off x="453372" y="307385"/>
            <a:ext cx="10375323" cy="1389149"/>
          </a:xfrm>
          <a:prstGeom prst="rect">
            <a:avLst/>
          </a:prstGeom>
        </p:spPr>
        <p:txBody>
          <a:bodyPr lIns="0" tIns="0" rIns="0" bIns="0" rtlCol="0" anchor="t">
            <a:spAutoFit/>
          </a:bodyPr>
          <a:lstStyle/>
          <a:p>
            <a:pPr algn="ctr">
              <a:lnSpc>
                <a:spcPts val="11315"/>
              </a:lnSpc>
              <a:spcBef>
                <a:spcPct val="0"/>
              </a:spcBef>
            </a:pPr>
            <a:r>
              <a:rPr lang="en-US" sz="8082" b="1" dirty="0">
                <a:solidFill>
                  <a:srgbClr val="000000"/>
                </a:solidFill>
                <a:latin typeface="Bricolage Grotesque Medium"/>
                <a:ea typeface="Bricolage Grotesque Medium"/>
                <a:cs typeface="Bricolage Grotesque Medium"/>
                <a:sym typeface="Bricolage Grotesque Medium"/>
              </a:rPr>
              <a:t>TABLE  OF CONTENTS</a:t>
            </a:r>
          </a:p>
        </p:txBody>
      </p:sp>
      <p:sp>
        <p:nvSpPr>
          <p:cNvPr id="21" name="TextBox 21"/>
          <p:cNvSpPr txBox="1"/>
          <p:nvPr/>
        </p:nvSpPr>
        <p:spPr>
          <a:xfrm>
            <a:off x="7359357" y="5916677"/>
            <a:ext cx="4672623" cy="596431"/>
          </a:xfrm>
          <a:prstGeom prst="rect">
            <a:avLst/>
          </a:prstGeom>
        </p:spPr>
        <p:txBody>
          <a:bodyPr lIns="0" tIns="0" rIns="0" bIns="0" rtlCol="0" anchor="t">
            <a:spAutoFit/>
          </a:bodyPr>
          <a:lstStyle/>
          <a:p>
            <a:pPr algn="l">
              <a:lnSpc>
                <a:spcPts val="4895"/>
              </a:lnSpc>
              <a:spcBef>
                <a:spcPct val="0"/>
              </a:spcBef>
            </a:pPr>
            <a:r>
              <a:rPr lang="en-US" sz="3496" b="1">
                <a:solidFill>
                  <a:srgbClr val="000000"/>
                </a:solidFill>
                <a:latin typeface="Inter Medium"/>
                <a:ea typeface="Inter Medium"/>
                <a:cs typeface="Inter Medium"/>
                <a:sym typeface="Inter Medium"/>
              </a:rPr>
              <a:t>PROJECT OVERVIEW</a:t>
            </a:r>
          </a:p>
        </p:txBody>
      </p:sp>
      <p:sp>
        <p:nvSpPr>
          <p:cNvPr id="22" name="TextBox 22"/>
          <p:cNvSpPr txBox="1"/>
          <p:nvPr/>
        </p:nvSpPr>
        <p:spPr>
          <a:xfrm>
            <a:off x="11160046" y="8215189"/>
            <a:ext cx="4672623" cy="596431"/>
          </a:xfrm>
          <a:prstGeom prst="rect">
            <a:avLst/>
          </a:prstGeom>
        </p:spPr>
        <p:txBody>
          <a:bodyPr lIns="0" tIns="0" rIns="0" bIns="0" rtlCol="0" anchor="t">
            <a:spAutoFit/>
          </a:bodyPr>
          <a:lstStyle/>
          <a:p>
            <a:pPr algn="l">
              <a:lnSpc>
                <a:spcPts val="4895"/>
              </a:lnSpc>
              <a:spcBef>
                <a:spcPct val="0"/>
              </a:spcBef>
            </a:pPr>
            <a:r>
              <a:rPr lang="en-US" sz="3496" b="1">
                <a:solidFill>
                  <a:srgbClr val="000000"/>
                </a:solidFill>
                <a:latin typeface="Inter Medium"/>
                <a:ea typeface="Inter Medium"/>
                <a:cs typeface="Inter Medium"/>
                <a:sym typeface="Inter Medium"/>
              </a:rPr>
              <a:t>MAIN PROJECT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Freeform 3"/>
          <p:cNvSpPr/>
          <p:nvPr/>
        </p:nvSpPr>
        <p:spPr>
          <a:xfrm flipH="1" flipV="1">
            <a:off x="-3797037" y="-1598762"/>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4" name="TextBox 4"/>
          <p:cNvSpPr txBox="1"/>
          <p:nvPr/>
        </p:nvSpPr>
        <p:spPr>
          <a:xfrm>
            <a:off x="1028700" y="4985493"/>
            <a:ext cx="7886330" cy="1136825"/>
          </a:xfrm>
          <a:prstGeom prst="rect">
            <a:avLst/>
          </a:prstGeom>
        </p:spPr>
        <p:txBody>
          <a:bodyPr lIns="0" tIns="0" rIns="0" bIns="0" rtlCol="0" anchor="t">
            <a:spAutoFit/>
          </a:bodyPr>
          <a:lstStyle/>
          <a:p>
            <a:pPr algn="l">
              <a:lnSpc>
                <a:spcPts val="9338"/>
              </a:lnSpc>
              <a:spcBef>
                <a:spcPct val="0"/>
              </a:spcBef>
            </a:pPr>
            <a:r>
              <a:rPr lang="en-US" sz="6670" b="1">
                <a:solidFill>
                  <a:srgbClr val="000000"/>
                </a:solidFill>
                <a:latin typeface="Bricolage Grotesque Bold"/>
                <a:ea typeface="Bricolage Grotesque Bold"/>
                <a:cs typeface="Bricolage Grotesque Bold"/>
                <a:sym typeface="Bricolage Grotesque Bold"/>
              </a:rPr>
              <a:t>01. INTRODUCTION</a:t>
            </a:r>
          </a:p>
        </p:txBody>
      </p:sp>
      <p:sp>
        <p:nvSpPr>
          <p:cNvPr id="5" name="Freeform 5"/>
          <p:cNvSpPr/>
          <p:nvPr/>
        </p:nvSpPr>
        <p:spPr>
          <a:xfrm>
            <a:off x="8517533" y="8138114"/>
            <a:ext cx="1252934" cy="1251820"/>
          </a:xfrm>
          <a:custGeom>
            <a:avLst/>
            <a:gdLst/>
            <a:ahLst/>
            <a:cxnLst/>
            <a:rect l="l" t="t" r="r" b="b"/>
            <a:pathLst>
              <a:path w="1252934" h="1251820">
                <a:moveTo>
                  <a:pt x="0" y="0"/>
                </a:moveTo>
                <a:lnTo>
                  <a:pt x="1252934" y="0"/>
                </a:lnTo>
                <a:lnTo>
                  <a:pt x="1252934" y="1251820"/>
                </a:lnTo>
                <a:lnTo>
                  <a:pt x="0" y="1251820"/>
                </a:lnTo>
                <a:lnTo>
                  <a:pt x="0" y="0"/>
                </a:lnTo>
                <a:close/>
              </a:path>
            </a:pathLst>
          </a:custGeom>
          <a:blipFill>
            <a:blip r:embed="rId4"/>
            <a:stretch>
              <a:fillRect/>
            </a:stretch>
          </a:blipFill>
        </p:spPr>
      </p:sp>
      <p:sp>
        <p:nvSpPr>
          <p:cNvPr id="6" name="TextBox 6"/>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03</a:t>
            </a:r>
          </a:p>
        </p:txBody>
      </p:sp>
      <p:sp>
        <p:nvSpPr>
          <p:cNvPr id="7" name="Freeform 7"/>
          <p:cNvSpPr/>
          <p:nvPr/>
        </p:nvSpPr>
        <p:spPr>
          <a:xfrm flipH="1" flipV="1">
            <a:off x="10675952" y="7031355"/>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grpSp>
        <p:nvGrpSpPr>
          <p:cNvPr id="8" name="Group 8"/>
          <p:cNvGrpSpPr/>
          <p:nvPr/>
        </p:nvGrpSpPr>
        <p:grpSpPr>
          <a:xfrm>
            <a:off x="9980662" y="2383451"/>
            <a:ext cx="7278638" cy="5451734"/>
            <a:chOff x="0" y="0"/>
            <a:chExt cx="1127652" cy="844616"/>
          </a:xfrm>
        </p:grpSpPr>
        <p:sp>
          <p:nvSpPr>
            <p:cNvPr id="9" name="Freeform 9"/>
            <p:cNvSpPr/>
            <p:nvPr/>
          </p:nvSpPr>
          <p:spPr>
            <a:xfrm>
              <a:off x="0" y="0"/>
              <a:ext cx="1127652" cy="844616"/>
            </a:xfrm>
            <a:custGeom>
              <a:avLst/>
              <a:gdLst/>
              <a:ahLst/>
              <a:cxnLst/>
              <a:rect l="l" t="t" r="r" b="b"/>
              <a:pathLst>
                <a:path w="1127652" h="844616">
                  <a:moveTo>
                    <a:pt x="0" y="0"/>
                  </a:moveTo>
                  <a:lnTo>
                    <a:pt x="1127652" y="0"/>
                  </a:lnTo>
                  <a:lnTo>
                    <a:pt x="1127652" y="844616"/>
                  </a:lnTo>
                  <a:lnTo>
                    <a:pt x="0" y="844616"/>
                  </a:lnTo>
                  <a:close/>
                </a:path>
              </a:pathLst>
            </a:custGeom>
            <a:blipFill>
              <a:blip r:embed="rId5"/>
              <a:stretch>
                <a:fillRect l="-6124" r="-6124"/>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7"/>
        </a:solidFill>
        <a:effectLst/>
      </p:bgPr>
    </p:bg>
    <p:spTree>
      <p:nvGrpSpPr>
        <p:cNvPr id="1" name=""/>
        <p:cNvGrpSpPr/>
        <p:nvPr/>
      </p:nvGrpSpPr>
      <p:grpSpPr>
        <a:xfrm>
          <a:off x="0" y="0"/>
          <a:ext cx="0" cy="0"/>
          <a:chOff x="0" y="0"/>
          <a:chExt cx="0" cy="0"/>
        </a:xfrm>
      </p:grpSpPr>
      <p:sp>
        <p:nvSpPr>
          <p:cNvPr id="2" name="Freeform 2"/>
          <p:cNvSpPr/>
          <p:nvPr/>
        </p:nvSpPr>
        <p:spPr>
          <a:xfrm flipH="1" flipV="1">
            <a:off x="-3797037" y="-1598762"/>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2"/>
            <a:stretch>
              <a:fillRect/>
            </a:stretch>
          </a:blipFill>
        </p:spPr>
      </p:sp>
      <p:sp>
        <p:nvSpPr>
          <p:cNvPr id="3" name="Freeform 3"/>
          <p:cNvSpPr/>
          <p:nvPr/>
        </p:nvSpPr>
        <p:spPr>
          <a:xfrm>
            <a:off x="8517533" y="8138114"/>
            <a:ext cx="1252934" cy="1251820"/>
          </a:xfrm>
          <a:custGeom>
            <a:avLst/>
            <a:gdLst/>
            <a:ahLst/>
            <a:cxnLst/>
            <a:rect l="l" t="t" r="r" b="b"/>
            <a:pathLst>
              <a:path w="1252934" h="1251820">
                <a:moveTo>
                  <a:pt x="0" y="0"/>
                </a:moveTo>
                <a:lnTo>
                  <a:pt x="1252934" y="0"/>
                </a:lnTo>
                <a:lnTo>
                  <a:pt x="1252934" y="1251820"/>
                </a:lnTo>
                <a:lnTo>
                  <a:pt x="0" y="1251820"/>
                </a:lnTo>
                <a:lnTo>
                  <a:pt x="0" y="0"/>
                </a:lnTo>
                <a:close/>
              </a:path>
            </a:pathLst>
          </a:custGeom>
          <a:blipFill>
            <a:blip r:embed="rId3"/>
            <a:stretch>
              <a:fillRect/>
            </a:stretch>
          </a:blipFill>
        </p:spPr>
      </p:sp>
      <p:sp>
        <p:nvSpPr>
          <p:cNvPr id="4" name="TextBox 4"/>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04</a:t>
            </a:r>
          </a:p>
        </p:txBody>
      </p:sp>
      <p:sp>
        <p:nvSpPr>
          <p:cNvPr id="5" name="Freeform 5"/>
          <p:cNvSpPr/>
          <p:nvPr/>
        </p:nvSpPr>
        <p:spPr>
          <a:xfrm flipH="1" flipV="1">
            <a:off x="10675952" y="7031355"/>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2"/>
            <a:stretch>
              <a:fillRect/>
            </a:stretch>
          </a:blipFill>
        </p:spPr>
      </p:sp>
      <p:grpSp>
        <p:nvGrpSpPr>
          <p:cNvPr id="6" name="Group 6"/>
          <p:cNvGrpSpPr/>
          <p:nvPr/>
        </p:nvGrpSpPr>
        <p:grpSpPr>
          <a:xfrm>
            <a:off x="-1379034" y="3713144"/>
            <a:ext cx="11895813" cy="5545156"/>
            <a:chOff x="0" y="0"/>
            <a:chExt cx="3133054" cy="1460453"/>
          </a:xfrm>
        </p:grpSpPr>
        <p:sp>
          <p:nvSpPr>
            <p:cNvPr id="7" name="Freeform 7"/>
            <p:cNvSpPr/>
            <p:nvPr/>
          </p:nvSpPr>
          <p:spPr>
            <a:xfrm>
              <a:off x="0" y="0"/>
              <a:ext cx="3133054" cy="1460453"/>
            </a:xfrm>
            <a:custGeom>
              <a:avLst/>
              <a:gdLst/>
              <a:ahLst/>
              <a:cxnLst/>
              <a:rect l="l" t="t" r="r" b="b"/>
              <a:pathLst>
                <a:path w="3133054" h="1460453">
                  <a:moveTo>
                    <a:pt x="65081" y="0"/>
                  </a:moveTo>
                  <a:lnTo>
                    <a:pt x="3067973" y="0"/>
                  </a:lnTo>
                  <a:cubicBezTo>
                    <a:pt x="3103916" y="0"/>
                    <a:pt x="3133054" y="29138"/>
                    <a:pt x="3133054" y="65081"/>
                  </a:cubicBezTo>
                  <a:lnTo>
                    <a:pt x="3133054" y="1395372"/>
                  </a:lnTo>
                  <a:cubicBezTo>
                    <a:pt x="3133054" y="1412632"/>
                    <a:pt x="3126197" y="1429186"/>
                    <a:pt x="3113992" y="1441391"/>
                  </a:cubicBezTo>
                  <a:cubicBezTo>
                    <a:pt x="3101787" y="1453596"/>
                    <a:pt x="3085233" y="1460453"/>
                    <a:pt x="3067973" y="1460453"/>
                  </a:cubicBezTo>
                  <a:lnTo>
                    <a:pt x="65081" y="1460453"/>
                  </a:lnTo>
                  <a:cubicBezTo>
                    <a:pt x="29138" y="1460453"/>
                    <a:pt x="0" y="1431315"/>
                    <a:pt x="0" y="1395372"/>
                  </a:cubicBezTo>
                  <a:lnTo>
                    <a:pt x="0" y="65081"/>
                  </a:lnTo>
                  <a:cubicBezTo>
                    <a:pt x="0" y="29138"/>
                    <a:pt x="29138" y="0"/>
                    <a:pt x="65081" y="0"/>
                  </a:cubicBezTo>
                  <a:close/>
                </a:path>
              </a:pathLst>
            </a:custGeom>
            <a:solidFill>
              <a:srgbClr val="FFFFF7"/>
            </a:solidFill>
          </p:spPr>
        </p:sp>
        <p:sp>
          <p:nvSpPr>
            <p:cNvPr id="8" name="TextBox 8"/>
            <p:cNvSpPr txBox="1"/>
            <p:nvPr/>
          </p:nvSpPr>
          <p:spPr>
            <a:xfrm>
              <a:off x="0" y="-47625"/>
              <a:ext cx="3133054" cy="1508078"/>
            </a:xfrm>
            <a:prstGeom prst="rect">
              <a:avLst/>
            </a:prstGeom>
          </p:spPr>
          <p:txBody>
            <a:bodyPr lIns="50800" tIns="50800" rIns="50800" bIns="50800" rtlCol="0" anchor="ctr"/>
            <a:lstStyle/>
            <a:p>
              <a:pPr algn="ctr">
                <a:lnSpc>
                  <a:spcPts val="3407"/>
                </a:lnSpc>
              </a:pPr>
              <a:endParaRPr/>
            </a:p>
          </p:txBody>
        </p:sp>
      </p:grpSp>
      <p:sp>
        <p:nvSpPr>
          <p:cNvPr id="9" name="Freeform 9"/>
          <p:cNvSpPr/>
          <p:nvPr/>
        </p:nvSpPr>
        <p:spPr>
          <a:xfrm>
            <a:off x="11337808" y="4878437"/>
            <a:ext cx="1357125" cy="1357125"/>
          </a:xfrm>
          <a:custGeom>
            <a:avLst/>
            <a:gdLst/>
            <a:ahLst/>
            <a:cxnLst/>
            <a:rect l="l" t="t" r="r" b="b"/>
            <a:pathLst>
              <a:path w="1357125" h="1357125">
                <a:moveTo>
                  <a:pt x="0" y="0"/>
                </a:moveTo>
                <a:lnTo>
                  <a:pt x="1357125" y="0"/>
                </a:lnTo>
                <a:lnTo>
                  <a:pt x="1357125" y="1357125"/>
                </a:lnTo>
                <a:lnTo>
                  <a:pt x="0" y="1357125"/>
                </a:lnTo>
                <a:lnTo>
                  <a:pt x="0" y="0"/>
                </a:lnTo>
                <a:close/>
              </a:path>
            </a:pathLst>
          </a:custGeom>
          <a:blipFill>
            <a:blip r:embed="rId4"/>
            <a:stretch>
              <a:fillRect/>
            </a:stretch>
          </a:blipFill>
        </p:spPr>
      </p:sp>
      <p:sp>
        <p:nvSpPr>
          <p:cNvPr id="10" name="Freeform 10"/>
          <p:cNvSpPr/>
          <p:nvPr/>
        </p:nvSpPr>
        <p:spPr>
          <a:xfrm>
            <a:off x="11342367" y="6596530"/>
            <a:ext cx="1352566" cy="1352566"/>
          </a:xfrm>
          <a:custGeom>
            <a:avLst/>
            <a:gdLst/>
            <a:ahLst/>
            <a:cxnLst/>
            <a:rect l="l" t="t" r="r" b="b"/>
            <a:pathLst>
              <a:path w="1352566" h="1352566">
                <a:moveTo>
                  <a:pt x="0" y="0"/>
                </a:moveTo>
                <a:lnTo>
                  <a:pt x="1352566" y="0"/>
                </a:lnTo>
                <a:lnTo>
                  <a:pt x="1352566" y="1352566"/>
                </a:lnTo>
                <a:lnTo>
                  <a:pt x="0" y="1352566"/>
                </a:lnTo>
                <a:lnTo>
                  <a:pt x="0" y="0"/>
                </a:lnTo>
                <a:close/>
              </a:path>
            </a:pathLst>
          </a:custGeom>
          <a:blipFill>
            <a:blip r:embed="rId5"/>
            <a:stretch>
              <a:fillRect/>
            </a:stretch>
          </a:blipFill>
        </p:spPr>
      </p:sp>
      <p:sp>
        <p:nvSpPr>
          <p:cNvPr id="11" name="TextBox 11"/>
          <p:cNvSpPr txBox="1"/>
          <p:nvPr/>
        </p:nvSpPr>
        <p:spPr>
          <a:xfrm>
            <a:off x="1713507" y="1841550"/>
            <a:ext cx="8519292" cy="1272541"/>
          </a:xfrm>
          <a:prstGeom prst="rect">
            <a:avLst/>
          </a:prstGeom>
        </p:spPr>
        <p:txBody>
          <a:bodyPr lIns="0" tIns="0" rIns="0" bIns="0" rtlCol="0" anchor="t">
            <a:spAutoFit/>
          </a:bodyPr>
          <a:lstStyle/>
          <a:p>
            <a:pPr algn="l">
              <a:lnSpc>
                <a:spcPts val="9360"/>
              </a:lnSpc>
            </a:pPr>
            <a:r>
              <a:rPr lang="en-US" sz="10400" b="1">
                <a:solidFill>
                  <a:srgbClr val="191919"/>
                </a:solidFill>
                <a:latin typeface="DM Sans Bold"/>
                <a:ea typeface="DM Sans Bold"/>
                <a:cs typeface="DM Sans Bold"/>
                <a:sym typeface="DM Sans Bold"/>
              </a:rPr>
              <a:t>About Me</a:t>
            </a:r>
          </a:p>
        </p:txBody>
      </p:sp>
      <p:sp>
        <p:nvSpPr>
          <p:cNvPr id="12" name="TextBox 12"/>
          <p:cNvSpPr txBox="1"/>
          <p:nvPr/>
        </p:nvSpPr>
        <p:spPr>
          <a:xfrm>
            <a:off x="322795" y="4247879"/>
            <a:ext cx="10531474" cy="4630627"/>
          </a:xfrm>
          <a:prstGeom prst="rect">
            <a:avLst/>
          </a:prstGeom>
        </p:spPr>
        <p:txBody>
          <a:bodyPr lIns="0" tIns="0" rIns="0" bIns="0" rtlCol="0" anchor="t">
            <a:spAutoFit/>
          </a:bodyPr>
          <a:lstStyle/>
          <a:p>
            <a:pPr algn="just">
              <a:lnSpc>
                <a:spcPts val="5028"/>
              </a:lnSpc>
            </a:pPr>
            <a:r>
              <a:rPr lang="en-US" sz="3591">
                <a:solidFill>
                  <a:srgbClr val="E4A7D6"/>
                </a:solidFill>
                <a:latin typeface="League Spartan"/>
                <a:ea typeface="League Spartan"/>
                <a:cs typeface="League Spartan"/>
                <a:sym typeface="League Spartan"/>
              </a:rPr>
              <a:t>Adelia Ekarle</a:t>
            </a:r>
          </a:p>
          <a:p>
            <a:pPr algn="l">
              <a:lnSpc>
                <a:spcPts val="3208"/>
              </a:lnSpc>
            </a:pPr>
            <a:endParaRPr lang="en-US" sz="3591">
              <a:solidFill>
                <a:srgbClr val="E4A7D6"/>
              </a:solidFill>
              <a:latin typeface="League Spartan"/>
              <a:ea typeface="League Spartan"/>
              <a:cs typeface="League Spartan"/>
              <a:sym typeface="League Spartan"/>
            </a:endParaRPr>
          </a:p>
          <a:p>
            <a:pPr algn="l">
              <a:lnSpc>
                <a:spcPts val="3208"/>
              </a:lnSpc>
            </a:pPr>
            <a:r>
              <a:rPr lang="en-US" sz="2291">
                <a:solidFill>
                  <a:srgbClr val="E4A7D6"/>
                </a:solidFill>
                <a:latin typeface="League Spartan"/>
                <a:ea typeface="League Spartan"/>
                <a:cs typeface="League Spartan"/>
                <a:sym typeface="League Spartan"/>
              </a:rPr>
              <a:t>Education Background</a:t>
            </a:r>
          </a:p>
          <a:p>
            <a:pPr marL="494814" lvl="1" indent="-247407" algn="l">
              <a:lnSpc>
                <a:spcPts val="3208"/>
              </a:lnSpc>
              <a:buFont typeface="Arial"/>
              <a:buChar char="•"/>
            </a:pPr>
            <a:r>
              <a:rPr lang="en-US" sz="2291">
                <a:solidFill>
                  <a:srgbClr val="191919"/>
                </a:solidFill>
                <a:latin typeface="Montserrat"/>
                <a:ea typeface="Montserrat"/>
                <a:cs typeface="Montserrat"/>
                <a:sym typeface="Montserrat"/>
              </a:rPr>
              <a:t>Informatics Engineering (2019-2024)</a:t>
            </a:r>
          </a:p>
          <a:p>
            <a:pPr marL="494814" lvl="1" indent="-247407" algn="l">
              <a:lnSpc>
                <a:spcPts val="3208"/>
              </a:lnSpc>
              <a:buFont typeface="Arial"/>
              <a:buChar char="•"/>
            </a:pPr>
            <a:r>
              <a:rPr lang="en-US" sz="2291">
                <a:solidFill>
                  <a:srgbClr val="191919"/>
                </a:solidFill>
                <a:latin typeface="Montserrat"/>
                <a:ea typeface="Montserrat"/>
                <a:cs typeface="Montserrat"/>
                <a:sym typeface="Montserrat"/>
              </a:rPr>
              <a:t>Bootcamp Data Analyst (August 2026 - now)</a:t>
            </a:r>
          </a:p>
          <a:p>
            <a:pPr algn="l">
              <a:lnSpc>
                <a:spcPts val="3208"/>
              </a:lnSpc>
            </a:pPr>
            <a:endParaRPr lang="en-US" sz="2291">
              <a:solidFill>
                <a:srgbClr val="191919"/>
              </a:solidFill>
              <a:latin typeface="Montserrat"/>
              <a:ea typeface="Montserrat"/>
              <a:cs typeface="Montserrat"/>
              <a:sym typeface="Montserrat"/>
            </a:endParaRPr>
          </a:p>
          <a:p>
            <a:pPr algn="l">
              <a:lnSpc>
                <a:spcPts val="3208"/>
              </a:lnSpc>
            </a:pPr>
            <a:r>
              <a:rPr lang="en-US" sz="2291">
                <a:solidFill>
                  <a:srgbClr val="E4A7D6"/>
                </a:solidFill>
                <a:latin typeface="League Spartan"/>
                <a:ea typeface="League Spartan"/>
                <a:cs typeface="League Spartan"/>
                <a:sym typeface="League Spartan"/>
              </a:rPr>
              <a:t>Work Experience</a:t>
            </a:r>
          </a:p>
          <a:p>
            <a:pPr algn="l">
              <a:lnSpc>
                <a:spcPts val="3208"/>
              </a:lnSpc>
            </a:pPr>
            <a:r>
              <a:rPr lang="en-US" sz="2291">
                <a:solidFill>
                  <a:srgbClr val="191919"/>
                </a:solidFill>
                <a:latin typeface="Montserrat"/>
                <a:ea typeface="Montserrat"/>
                <a:cs typeface="Montserrat"/>
                <a:sym typeface="Montserrat"/>
              </a:rPr>
              <a:t>Intern – Audit Department at PT Matahari Department Store Tbk</a:t>
            </a:r>
          </a:p>
          <a:p>
            <a:pPr algn="l">
              <a:lnSpc>
                <a:spcPts val="3208"/>
              </a:lnSpc>
            </a:pPr>
            <a:endParaRPr lang="en-US" sz="2291">
              <a:solidFill>
                <a:srgbClr val="191919"/>
              </a:solidFill>
              <a:latin typeface="Montserrat"/>
              <a:ea typeface="Montserrat"/>
              <a:cs typeface="Montserrat"/>
              <a:sym typeface="Montserrat"/>
            </a:endParaRPr>
          </a:p>
          <a:p>
            <a:pPr algn="l">
              <a:lnSpc>
                <a:spcPts val="3208"/>
              </a:lnSpc>
            </a:pPr>
            <a:endParaRPr lang="en-US" sz="2291">
              <a:solidFill>
                <a:srgbClr val="191919"/>
              </a:solidFill>
              <a:latin typeface="Montserrat"/>
              <a:ea typeface="Montserrat"/>
              <a:cs typeface="Montserrat"/>
              <a:sym typeface="Montserrat"/>
            </a:endParaRPr>
          </a:p>
          <a:p>
            <a:pPr algn="l">
              <a:lnSpc>
                <a:spcPts val="3208"/>
              </a:lnSpc>
            </a:pPr>
            <a:endParaRPr lang="en-US" sz="2291">
              <a:solidFill>
                <a:srgbClr val="191919"/>
              </a:solidFill>
              <a:latin typeface="Montserrat"/>
              <a:ea typeface="Montserrat"/>
              <a:cs typeface="Montserrat"/>
              <a:sym typeface="Montserrat"/>
            </a:endParaRPr>
          </a:p>
        </p:txBody>
      </p:sp>
      <p:sp>
        <p:nvSpPr>
          <p:cNvPr id="13" name="TextBox 13"/>
          <p:cNvSpPr txBox="1"/>
          <p:nvPr/>
        </p:nvSpPr>
        <p:spPr>
          <a:xfrm>
            <a:off x="12839243" y="5271678"/>
            <a:ext cx="5125962" cy="520655"/>
          </a:xfrm>
          <a:prstGeom prst="rect">
            <a:avLst/>
          </a:prstGeom>
        </p:spPr>
        <p:txBody>
          <a:bodyPr wrap="square" lIns="0" tIns="0" rIns="0" bIns="0" rtlCol="0" anchor="t">
            <a:spAutoFit/>
          </a:bodyPr>
          <a:lstStyle/>
          <a:p>
            <a:pPr algn="ctr">
              <a:lnSpc>
                <a:spcPts val="4247"/>
              </a:lnSpc>
              <a:spcBef>
                <a:spcPct val="0"/>
              </a:spcBef>
            </a:pPr>
            <a:r>
              <a:rPr lang="en-US" sz="3033" dirty="0" err="1">
                <a:solidFill>
                  <a:srgbClr val="0E47A1"/>
                </a:solidFill>
                <a:latin typeface="League Spartan"/>
                <a:ea typeface="League Spartan"/>
                <a:cs typeface="League Spartan"/>
                <a:sym typeface="League Spartan"/>
              </a:rPr>
              <a:t>Linkedin</a:t>
            </a:r>
            <a:r>
              <a:rPr lang="en-US" sz="3033" dirty="0">
                <a:solidFill>
                  <a:srgbClr val="0E47A1"/>
                </a:solidFill>
                <a:latin typeface="League Spartan"/>
                <a:ea typeface="League Spartan"/>
                <a:cs typeface="League Spartan"/>
                <a:sym typeface="League Spartan"/>
              </a:rPr>
              <a:t>: </a:t>
            </a:r>
            <a:r>
              <a:rPr lang="en-US" sz="3033" u="sng" dirty="0">
                <a:solidFill>
                  <a:srgbClr val="0E47A1"/>
                </a:solidFill>
                <a:latin typeface="League Spartan"/>
                <a:ea typeface="League Spartan"/>
                <a:cs typeface="League Spartan"/>
                <a:sym typeface="League Spartan"/>
                <a:hlinkClick r:id="rId6" tooltip="https://www.linkedin.com/in/adelia-ekarle-40b102216/"/>
              </a:rPr>
              <a:t>Adelia Ekarle</a:t>
            </a:r>
          </a:p>
        </p:txBody>
      </p:sp>
      <p:sp>
        <p:nvSpPr>
          <p:cNvPr id="14" name="TextBox 14"/>
          <p:cNvSpPr txBox="1"/>
          <p:nvPr/>
        </p:nvSpPr>
        <p:spPr>
          <a:xfrm>
            <a:off x="12934782" y="6778468"/>
            <a:ext cx="4324518" cy="520655"/>
          </a:xfrm>
          <a:prstGeom prst="rect">
            <a:avLst/>
          </a:prstGeom>
        </p:spPr>
        <p:txBody>
          <a:bodyPr wrap="square" lIns="0" tIns="0" rIns="0" bIns="0" rtlCol="0" anchor="t">
            <a:spAutoFit/>
          </a:bodyPr>
          <a:lstStyle/>
          <a:p>
            <a:pPr algn="ctr">
              <a:lnSpc>
                <a:spcPts val="4147"/>
              </a:lnSpc>
              <a:spcBef>
                <a:spcPct val="0"/>
              </a:spcBef>
            </a:pPr>
            <a:r>
              <a:rPr lang="en-US" sz="2962" dirty="0" err="1">
                <a:solidFill>
                  <a:srgbClr val="000000"/>
                </a:solidFill>
                <a:latin typeface="League Spartan"/>
                <a:ea typeface="League Spartan"/>
                <a:cs typeface="League Spartan"/>
                <a:sym typeface="League Spartan"/>
              </a:rPr>
              <a:t>Github</a:t>
            </a:r>
            <a:r>
              <a:rPr lang="en-US" sz="2962" dirty="0">
                <a:solidFill>
                  <a:srgbClr val="002060"/>
                </a:solidFill>
                <a:latin typeface="League Spartan"/>
                <a:ea typeface="League Spartan"/>
                <a:cs typeface="League Spartan"/>
                <a:sym typeface="League Spartan"/>
              </a:rPr>
              <a:t>: </a:t>
            </a:r>
            <a:r>
              <a:rPr lang="en-US" sz="2962" u="sng" dirty="0">
                <a:solidFill>
                  <a:srgbClr val="0000FF"/>
                </a:solidFill>
                <a:latin typeface="League Spartan"/>
                <a:ea typeface="League Spartan"/>
                <a:cs typeface="League Spartan"/>
                <a:sym typeface="League Spartan"/>
                <a:hlinkClick r:id="rId7" tooltip="https://github.com/adeliadea21">
                  <a:extLst>
                    <a:ext uri="{A12FA001-AC4F-418D-AE19-62706E023703}">
                      <ahyp:hlinkClr xmlns:ahyp="http://schemas.microsoft.com/office/drawing/2018/hyperlinkcolor" val="tx"/>
                    </a:ext>
                  </a:extLst>
                </a:hlinkClick>
              </a:rPr>
              <a:t>adeliadea2</a:t>
            </a:r>
            <a:r>
              <a:rPr lang="en-US" sz="2962" dirty="0">
                <a:solidFill>
                  <a:srgbClr val="0000FF"/>
                </a:solidFill>
                <a:latin typeface="League Spartan"/>
                <a:ea typeface="League Spartan"/>
                <a:cs typeface="League Spartan"/>
                <a:sym typeface="League Spartan"/>
              </a:rPr>
              <a:t>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Freeform 3"/>
          <p:cNvSpPr/>
          <p:nvPr/>
        </p:nvSpPr>
        <p:spPr>
          <a:xfrm flipH="1" flipV="1">
            <a:off x="-4356096" y="7695157"/>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4" name="Freeform 4"/>
          <p:cNvSpPr/>
          <p:nvPr/>
        </p:nvSpPr>
        <p:spPr>
          <a:xfrm flipH="1" flipV="1">
            <a:off x="13252197" y="-4661239"/>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grpSp>
        <p:nvGrpSpPr>
          <p:cNvPr id="5" name="Group 5"/>
          <p:cNvGrpSpPr/>
          <p:nvPr/>
        </p:nvGrpSpPr>
        <p:grpSpPr>
          <a:xfrm>
            <a:off x="9709396" y="5379181"/>
            <a:ext cx="7549904" cy="2051765"/>
            <a:chOff x="0" y="0"/>
            <a:chExt cx="10066539" cy="2735687"/>
          </a:xfrm>
        </p:grpSpPr>
        <p:sp>
          <p:nvSpPr>
            <p:cNvPr id="6" name="TextBox 6"/>
            <p:cNvSpPr txBox="1"/>
            <p:nvPr/>
          </p:nvSpPr>
          <p:spPr>
            <a:xfrm>
              <a:off x="2583713" y="663047"/>
              <a:ext cx="7482826" cy="2072640"/>
            </a:xfrm>
            <a:prstGeom prst="rect">
              <a:avLst/>
            </a:prstGeom>
          </p:spPr>
          <p:txBody>
            <a:bodyPr lIns="0" tIns="0" rIns="0" bIns="0" rtlCol="0" anchor="t">
              <a:spAutoFit/>
            </a:bodyPr>
            <a:lstStyle/>
            <a:p>
              <a:pPr algn="l">
                <a:lnSpc>
                  <a:spcPts val="2520"/>
                </a:lnSpc>
                <a:spcBef>
                  <a:spcPct val="0"/>
                </a:spcBef>
              </a:pPr>
              <a:r>
                <a:rPr lang="en-US" sz="1800">
                  <a:solidFill>
                    <a:srgbClr val="000000"/>
                  </a:solidFill>
                  <a:latin typeface="Inter"/>
                  <a:ea typeface="Inter"/>
                  <a:cs typeface="Inter"/>
                  <a:sym typeface="Inter"/>
                </a:rPr>
                <a:t>Mengolah data dari kaggle dengan nama Employee Data menggunakan fungsi dan visualisasi di Excel untuk menjawab pertanyaan analisis spesifik, serta menyajikan insight bisnis dalam bentuk dashboard interaktif dan slide presentasi.</a:t>
              </a:r>
            </a:p>
          </p:txBody>
        </p:sp>
        <p:sp>
          <p:nvSpPr>
            <p:cNvPr id="7" name="TextBox 7"/>
            <p:cNvSpPr txBox="1"/>
            <p:nvPr/>
          </p:nvSpPr>
          <p:spPr>
            <a:xfrm>
              <a:off x="2583713" y="-38100"/>
              <a:ext cx="7482826" cy="462280"/>
            </a:xfrm>
            <a:prstGeom prst="rect">
              <a:avLst/>
            </a:prstGeom>
          </p:spPr>
          <p:txBody>
            <a:bodyPr lIns="0" tIns="0" rIns="0" bIns="0" rtlCol="0" anchor="t">
              <a:spAutoFit/>
            </a:bodyPr>
            <a:lstStyle/>
            <a:p>
              <a:pPr algn="l">
                <a:lnSpc>
                  <a:spcPts val="2940"/>
                </a:lnSpc>
                <a:spcBef>
                  <a:spcPct val="0"/>
                </a:spcBef>
              </a:pPr>
              <a:r>
                <a:rPr lang="en-US" sz="2100" b="1">
                  <a:solidFill>
                    <a:srgbClr val="000000"/>
                  </a:solidFill>
                  <a:latin typeface="Inter Medium"/>
                  <a:ea typeface="Inter Medium"/>
                  <a:cs typeface="Inter Medium"/>
                  <a:sym typeface="Inter Medium"/>
                </a:rPr>
                <a:t>ASSIGNMENT CASE STUDY EXCEL</a:t>
              </a:r>
            </a:p>
          </p:txBody>
        </p:sp>
        <p:grpSp>
          <p:nvGrpSpPr>
            <p:cNvPr id="8" name="Group 8"/>
            <p:cNvGrpSpPr/>
            <p:nvPr/>
          </p:nvGrpSpPr>
          <p:grpSpPr>
            <a:xfrm>
              <a:off x="0" y="0"/>
              <a:ext cx="1897487" cy="189748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11" name="TextBox 11"/>
            <p:cNvSpPr txBox="1"/>
            <p:nvPr/>
          </p:nvSpPr>
          <p:spPr>
            <a:xfrm>
              <a:off x="535821" y="698553"/>
              <a:ext cx="825844" cy="462280"/>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01</a:t>
              </a:r>
            </a:p>
          </p:txBody>
        </p:sp>
      </p:grpSp>
      <p:grpSp>
        <p:nvGrpSpPr>
          <p:cNvPr id="12" name="Group 12"/>
          <p:cNvGrpSpPr/>
          <p:nvPr/>
        </p:nvGrpSpPr>
        <p:grpSpPr>
          <a:xfrm>
            <a:off x="778559" y="4341027"/>
            <a:ext cx="8115300" cy="3752554"/>
            <a:chOff x="0" y="0"/>
            <a:chExt cx="1257272" cy="581369"/>
          </a:xfrm>
        </p:grpSpPr>
        <p:sp>
          <p:nvSpPr>
            <p:cNvPr id="13" name="Freeform 13"/>
            <p:cNvSpPr/>
            <p:nvPr/>
          </p:nvSpPr>
          <p:spPr>
            <a:xfrm>
              <a:off x="0" y="0"/>
              <a:ext cx="1257272" cy="581369"/>
            </a:xfrm>
            <a:custGeom>
              <a:avLst/>
              <a:gdLst/>
              <a:ahLst/>
              <a:cxnLst/>
              <a:rect l="l" t="t" r="r" b="b"/>
              <a:pathLst>
                <a:path w="1257272" h="581369">
                  <a:moveTo>
                    <a:pt x="0" y="0"/>
                  </a:moveTo>
                  <a:lnTo>
                    <a:pt x="1257272" y="0"/>
                  </a:lnTo>
                  <a:lnTo>
                    <a:pt x="1257272" y="581369"/>
                  </a:lnTo>
                  <a:lnTo>
                    <a:pt x="0" y="581369"/>
                  </a:lnTo>
                  <a:close/>
                </a:path>
              </a:pathLst>
            </a:custGeom>
            <a:blipFill>
              <a:blip r:embed="rId4"/>
              <a:stretch>
                <a:fillRect t="-22152" b="-22152"/>
              </a:stretch>
            </a:blipFill>
          </p:spPr>
        </p:sp>
      </p:grpSp>
      <p:sp>
        <p:nvSpPr>
          <p:cNvPr id="14" name="Freeform 14"/>
          <p:cNvSpPr/>
          <p:nvPr/>
        </p:nvSpPr>
        <p:spPr>
          <a:xfrm>
            <a:off x="15540524" y="4127362"/>
            <a:ext cx="1252934" cy="1251820"/>
          </a:xfrm>
          <a:custGeom>
            <a:avLst/>
            <a:gdLst/>
            <a:ahLst/>
            <a:cxnLst/>
            <a:rect l="l" t="t" r="r" b="b"/>
            <a:pathLst>
              <a:path w="1252934" h="1251820">
                <a:moveTo>
                  <a:pt x="0" y="0"/>
                </a:moveTo>
                <a:lnTo>
                  <a:pt x="1252934" y="0"/>
                </a:lnTo>
                <a:lnTo>
                  <a:pt x="1252934" y="1251819"/>
                </a:lnTo>
                <a:lnTo>
                  <a:pt x="0" y="1251819"/>
                </a:lnTo>
                <a:lnTo>
                  <a:pt x="0" y="0"/>
                </a:lnTo>
                <a:close/>
              </a:path>
            </a:pathLst>
          </a:custGeom>
          <a:blipFill>
            <a:blip r:embed="rId5"/>
            <a:stretch>
              <a:fillRect/>
            </a:stretch>
          </a:blipFill>
        </p:spPr>
      </p:sp>
      <p:sp>
        <p:nvSpPr>
          <p:cNvPr id="15" name="TextBox 15"/>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05</a:t>
            </a:r>
          </a:p>
        </p:txBody>
      </p:sp>
      <p:sp>
        <p:nvSpPr>
          <p:cNvPr id="16" name="TextBox 16"/>
          <p:cNvSpPr txBox="1"/>
          <p:nvPr/>
        </p:nvSpPr>
        <p:spPr>
          <a:xfrm>
            <a:off x="1028700" y="1188145"/>
            <a:ext cx="11038746" cy="1236345"/>
          </a:xfrm>
          <a:prstGeom prst="rect">
            <a:avLst/>
          </a:prstGeom>
        </p:spPr>
        <p:txBody>
          <a:bodyPr lIns="0" tIns="0" rIns="0" bIns="0" rtlCol="0" anchor="t">
            <a:spAutoFit/>
          </a:bodyPr>
          <a:lstStyle/>
          <a:p>
            <a:pPr algn="l">
              <a:lnSpc>
                <a:spcPts val="10080"/>
              </a:lnSpc>
              <a:spcBef>
                <a:spcPct val="0"/>
              </a:spcBef>
            </a:pPr>
            <a:r>
              <a:rPr lang="en-US" sz="7200" b="1">
                <a:solidFill>
                  <a:srgbClr val="000000"/>
                </a:solidFill>
                <a:latin typeface="Bricolage Grotesque Bold"/>
                <a:ea typeface="Bricolage Grotesque Bold"/>
                <a:cs typeface="Bricolage Grotesque Bold"/>
                <a:sym typeface="Bricolage Grotesque Bold"/>
              </a:rPr>
              <a:t>02. PROJECT OVERVIEW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TextBox 3"/>
          <p:cNvSpPr txBox="1"/>
          <p:nvPr/>
        </p:nvSpPr>
        <p:spPr>
          <a:xfrm>
            <a:off x="9822015" y="1133853"/>
            <a:ext cx="1426631" cy="356235"/>
          </a:xfrm>
          <a:prstGeom prst="rect">
            <a:avLst/>
          </a:prstGeom>
        </p:spPr>
        <p:txBody>
          <a:bodyPr lIns="0" tIns="0" rIns="0" bIns="0" rtlCol="0" anchor="t">
            <a:spAutoFit/>
          </a:bodyPr>
          <a:lstStyle/>
          <a:p>
            <a:pPr algn="ctr">
              <a:lnSpc>
                <a:spcPts val="2940"/>
              </a:lnSpc>
              <a:spcBef>
                <a:spcPct val="0"/>
              </a:spcBef>
            </a:pPr>
            <a:r>
              <a:rPr lang="en-US" sz="2100" b="1">
                <a:solidFill>
                  <a:srgbClr val="000000"/>
                </a:solidFill>
                <a:latin typeface="Inter Medium"/>
                <a:ea typeface="Inter Medium"/>
                <a:cs typeface="Inter Medium"/>
                <a:sym typeface="Inter Medium"/>
              </a:rPr>
              <a:t>HOME</a:t>
            </a:r>
          </a:p>
        </p:txBody>
      </p:sp>
      <p:sp>
        <p:nvSpPr>
          <p:cNvPr id="4" name="TextBox 4"/>
          <p:cNvSpPr txBox="1"/>
          <p:nvPr/>
        </p:nvSpPr>
        <p:spPr>
          <a:xfrm>
            <a:off x="11825566" y="1133853"/>
            <a:ext cx="1426631" cy="356235"/>
          </a:xfrm>
          <a:prstGeom prst="rect">
            <a:avLst/>
          </a:prstGeom>
        </p:spPr>
        <p:txBody>
          <a:bodyPr lIns="0" tIns="0" rIns="0" bIns="0" rtlCol="0" anchor="t">
            <a:spAutoFit/>
          </a:bodyPr>
          <a:lstStyle/>
          <a:p>
            <a:pPr algn="ctr">
              <a:lnSpc>
                <a:spcPts val="2940"/>
              </a:lnSpc>
              <a:spcBef>
                <a:spcPct val="0"/>
              </a:spcBef>
            </a:pPr>
            <a:r>
              <a:rPr lang="en-US" sz="2100" b="1">
                <a:solidFill>
                  <a:srgbClr val="000000"/>
                </a:solidFill>
                <a:latin typeface="Inter Medium"/>
                <a:ea typeface="Inter Medium"/>
                <a:cs typeface="Inter Medium"/>
                <a:sym typeface="Inter Medium"/>
              </a:rPr>
              <a:t>ABOUT</a:t>
            </a:r>
          </a:p>
        </p:txBody>
      </p:sp>
      <p:sp>
        <p:nvSpPr>
          <p:cNvPr id="5" name="TextBox 5"/>
          <p:cNvSpPr txBox="1"/>
          <p:nvPr/>
        </p:nvSpPr>
        <p:spPr>
          <a:xfrm>
            <a:off x="13829118" y="1133853"/>
            <a:ext cx="1426631" cy="356235"/>
          </a:xfrm>
          <a:prstGeom prst="rect">
            <a:avLst/>
          </a:prstGeom>
        </p:spPr>
        <p:txBody>
          <a:bodyPr lIns="0" tIns="0" rIns="0" bIns="0" rtlCol="0" anchor="t">
            <a:spAutoFit/>
          </a:bodyPr>
          <a:lstStyle/>
          <a:p>
            <a:pPr algn="ctr">
              <a:lnSpc>
                <a:spcPts val="2940"/>
              </a:lnSpc>
              <a:spcBef>
                <a:spcPct val="0"/>
              </a:spcBef>
            </a:pPr>
            <a:r>
              <a:rPr lang="en-US" sz="2100" b="1">
                <a:solidFill>
                  <a:srgbClr val="000000"/>
                </a:solidFill>
                <a:latin typeface="Inter Medium"/>
                <a:ea typeface="Inter Medium"/>
                <a:cs typeface="Inter Medium"/>
                <a:sym typeface="Inter Medium"/>
              </a:rPr>
              <a:t>CONTACT</a:t>
            </a:r>
          </a:p>
        </p:txBody>
      </p:sp>
      <p:sp>
        <p:nvSpPr>
          <p:cNvPr id="6" name="TextBox 6"/>
          <p:cNvSpPr txBox="1"/>
          <p:nvPr/>
        </p:nvSpPr>
        <p:spPr>
          <a:xfrm>
            <a:off x="1028700" y="3516926"/>
            <a:ext cx="9109604" cy="1236345"/>
          </a:xfrm>
          <a:prstGeom prst="rect">
            <a:avLst/>
          </a:prstGeom>
        </p:spPr>
        <p:txBody>
          <a:bodyPr lIns="0" tIns="0" rIns="0" bIns="0" rtlCol="0" anchor="t">
            <a:spAutoFit/>
          </a:bodyPr>
          <a:lstStyle/>
          <a:p>
            <a:pPr algn="l">
              <a:lnSpc>
                <a:spcPts val="10080"/>
              </a:lnSpc>
              <a:spcBef>
                <a:spcPct val="0"/>
              </a:spcBef>
            </a:pPr>
            <a:r>
              <a:rPr lang="en-US" sz="7200" b="1">
                <a:solidFill>
                  <a:srgbClr val="000000"/>
                </a:solidFill>
                <a:latin typeface="Bricolage Grotesque Bold"/>
                <a:ea typeface="Bricolage Grotesque Bold"/>
                <a:cs typeface="Bricolage Grotesque Bold"/>
                <a:sym typeface="Bricolage Grotesque Bold"/>
              </a:rPr>
              <a:t>03. MAIN PROJECT</a:t>
            </a:r>
          </a:p>
        </p:txBody>
      </p:sp>
      <p:sp>
        <p:nvSpPr>
          <p:cNvPr id="7" name="Freeform 7"/>
          <p:cNvSpPr/>
          <p:nvPr/>
        </p:nvSpPr>
        <p:spPr>
          <a:xfrm flipH="1" flipV="1">
            <a:off x="13436482" y="6792595"/>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grpSp>
        <p:nvGrpSpPr>
          <p:cNvPr id="8" name="Group 8"/>
          <p:cNvGrpSpPr/>
          <p:nvPr/>
        </p:nvGrpSpPr>
        <p:grpSpPr>
          <a:xfrm>
            <a:off x="1028700" y="5505746"/>
            <a:ext cx="16230600" cy="3752554"/>
            <a:chOff x="0" y="0"/>
            <a:chExt cx="2514545" cy="581369"/>
          </a:xfrm>
        </p:grpSpPr>
        <p:sp>
          <p:nvSpPr>
            <p:cNvPr id="9" name="Freeform 9"/>
            <p:cNvSpPr/>
            <p:nvPr/>
          </p:nvSpPr>
          <p:spPr>
            <a:xfrm>
              <a:off x="0" y="0"/>
              <a:ext cx="2514545" cy="581369"/>
            </a:xfrm>
            <a:custGeom>
              <a:avLst/>
              <a:gdLst/>
              <a:ahLst/>
              <a:cxnLst/>
              <a:rect l="l" t="t" r="r" b="b"/>
              <a:pathLst>
                <a:path w="2514545" h="581369">
                  <a:moveTo>
                    <a:pt x="0" y="0"/>
                  </a:moveTo>
                  <a:lnTo>
                    <a:pt x="2514545" y="0"/>
                  </a:lnTo>
                  <a:lnTo>
                    <a:pt x="2514545" y="581369"/>
                  </a:lnTo>
                  <a:lnTo>
                    <a:pt x="0" y="581369"/>
                  </a:lnTo>
                  <a:close/>
                </a:path>
              </a:pathLst>
            </a:custGeom>
            <a:blipFill>
              <a:blip r:embed="rId4"/>
              <a:stretch>
                <a:fillRect t="-94304" b="-94304"/>
              </a:stretch>
            </a:blipFill>
          </p:spPr>
        </p:sp>
      </p:grpSp>
      <p:sp>
        <p:nvSpPr>
          <p:cNvPr id="10" name="Freeform 10"/>
          <p:cNvSpPr/>
          <p:nvPr/>
        </p:nvSpPr>
        <p:spPr>
          <a:xfrm>
            <a:off x="5447970" y="-6362700"/>
            <a:ext cx="8572500" cy="8229600"/>
          </a:xfrm>
          <a:custGeom>
            <a:avLst/>
            <a:gdLst/>
            <a:ahLst/>
            <a:cxnLst/>
            <a:rect l="l" t="t" r="r" b="b"/>
            <a:pathLst>
              <a:path w="8572500" h="8229600">
                <a:moveTo>
                  <a:pt x="0" y="0"/>
                </a:moveTo>
                <a:lnTo>
                  <a:pt x="8572500" y="0"/>
                </a:lnTo>
                <a:lnTo>
                  <a:pt x="8572500" y="8229600"/>
                </a:lnTo>
                <a:lnTo>
                  <a:pt x="0" y="8229600"/>
                </a:lnTo>
                <a:lnTo>
                  <a:pt x="0" y="0"/>
                </a:lnTo>
                <a:close/>
              </a:path>
            </a:pathLst>
          </a:custGeom>
          <a:blipFill>
            <a:blip r:embed="rId3"/>
            <a:stretch>
              <a:fillRect/>
            </a:stretch>
          </a:blipFill>
        </p:spPr>
      </p:sp>
      <p:sp>
        <p:nvSpPr>
          <p:cNvPr id="11" name="Freeform 11"/>
          <p:cNvSpPr/>
          <p:nvPr/>
        </p:nvSpPr>
        <p:spPr>
          <a:xfrm>
            <a:off x="8885369" y="3891680"/>
            <a:ext cx="1252934" cy="1251820"/>
          </a:xfrm>
          <a:custGeom>
            <a:avLst/>
            <a:gdLst/>
            <a:ahLst/>
            <a:cxnLst/>
            <a:rect l="l" t="t" r="r" b="b"/>
            <a:pathLst>
              <a:path w="1252934" h="1251820">
                <a:moveTo>
                  <a:pt x="0" y="0"/>
                </a:moveTo>
                <a:lnTo>
                  <a:pt x="1252935" y="0"/>
                </a:lnTo>
                <a:lnTo>
                  <a:pt x="1252935" y="1251820"/>
                </a:lnTo>
                <a:lnTo>
                  <a:pt x="0" y="1251820"/>
                </a:lnTo>
                <a:lnTo>
                  <a:pt x="0" y="0"/>
                </a:lnTo>
                <a:close/>
              </a:path>
            </a:pathLst>
          </a:custGeom>
          <a:blipFill>
            <a:blip r:embed="rId5"/>
            <a:stretch>
              <a:fillRect/>
            </a:stretch>
          </a:blipFill>
        </p:spPr>
      </p:sp>
      <p:sp>
        <p:nvSpPr>
          <p:cNvPr id="12" name="TextBox 12"/>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TextBox 3"/>
          <p:cNvSpPr txBox="1"/>
          <p:nvPr/>
        </p:nvSpPr>
        <p:spPr>
          <a:xfrm>
            <a:off x="903629" y="3369688"/>
            <a:ext cx="7503766" cy="4936170"/>
          </a:xfrm>
          <a:prstGeom prst="rect">
            <a:avLst/>
          </a:prstGeom>
        </p:spPr>
        <p:txBody>
          <a:bodyPr lIns="0" tIns="0" rIns="0" bIns="0" rtlCol="0" anchor="t">
            <a:spAutoFit/>
          </a:bodyPr>
          <a:lstStyle/>
          <a:p>
            <a:pPr algn="just">
              <a:lnSpc>
                <a:spcPts val="3917"/>
              </a:lnSpc>
              <a:spcBef>
                <a:spcPct val="0"/>
              </a:spcBef>
            </a:pPr>
            <a:r>
              <a:rPr lang="en-US" sz="2798" dirty="0" err="1">
                <a:solidFill>
                  <a:srgbClr val="000000"/>
                </a:solidFill>
                <a:latin typeface="Inter"/>
                <a:ea typeface="Inter"/>
                <a:cs typeface="Inter"/>
                <a:sym typeface="Inter"/>
              </a:rPr>
              <a:t>Analisis</a:t>
            </a:r>
            <a:r>
              <a:rPr lang="en-US" sz="2798" dirty="0">
                <a:solidFill>
                  <a:srgbClr val="000000"/>
                </a:solidFill>
                <a:latin typeface="Inter"/>
                <a:ea typeface="Inter"/>
                <a:cs typeface="Inter"/>
                <a:sym typeface="Inter"/>
              </a:rPr>
              <a:t> ini </a:t>
            </a:r>
            <a:r>
              <a:rPr lang="en-US" sz="2798" dirty="0" err="1">
                <a:solidFill>
                  <a:srgbClr val="000000"/>
                </a:solidFill>
                <a:latin typeface="Inter"/>
                <a:ea typeface="Inter"/>
                <a:cs typeface="Inter"/>
                <a:sym typeface="Inter"/>
              </a:rPr>
              <a:t>dilakukan</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untuk</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memahami</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performa</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penjualan</a:t>
            </a:r>
            <a:r>
              <a:rPr lang="en-US" sz="2798" dirty="0">
                <a:solidFill>
                  <a:srgbClr val="000000"/>
                </a:solidFill>
                <a:latin typeface="Inter"/>
                <a:ea typeface="Inter"/>
                <a:cs typeface="Inter"/>
                <a:sym typeface="Inter"/>
              </a:rPr>
              <a:t> cafe </a:t>
            </a:r>
            <a:r>
              <a:rPr lang="en-US" sz="2798" dirty="0" err="1">
                <a:solidFill>
                  <a:srgbClr val="000000"/>
                </a:solidFill>
                <a:latin typeface="Inter"/>
                <a:ea typeface="Inter"/>
                <a:cs typeface="Inter"/>
                <a:sym typeface="Inter"/>
              </a:rPr>
              <a:t>berdasarkan</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produk</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waktu</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nilai</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transaksi</a:t>
            </a:r>
            <a:r>
              <a:rPr lang="en-US" sz="2798" dirty="0">
                <a:solidFill>
                  <a:srgbClr val="000000"/>
                </a:solidFill>
                <a:latin typeface="Inter"/>
                <a:ea typeface="Inter"/>
                <a:cs typeface="Inter"/>
                <a:sym typeface="Inter"/>
              </a:rPr>
              <a:t>, dan </a:t>
            </a:r>
            <a:r>
              <a:rPr lang="en-US" sz="2798" dirty="0" err="1">
                <a:solidFill>
                  <a:srgbClr val="000000"/>
                </a:solidFill>
                <a:latin typeface="Inter"/>
                <a:ea typeface="Inter"/>
                <a:cs typeface="Inter"/>
                <a:sym typeface="Inter"/>
              </a:rPr>
              <a:t>metode</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pembayaran</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Beberapa</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pertanyaan</a:t>
            </a:r>
            <a:r>
              <a:rPr lang="en-US" sz="2798" dirty="0">
                <a:solidFill>
                  <a:srgbClr val="000000"/>
                </a:solidFill>
                <a:latin typeface="Inter"/>
                <a:ea typeface="Inter"/>
                <a:cs typeface="Inter"/>
                <a:sym typeface="Inter"/>
              </a:rPr>
              <a:t> yang </a:t>
            </a:r>
            <a:r>
              <a:rPr lang="en-US" sz="2798" dirty="0" err="1">
                <a:solidFill>
                  <a:srgbClr val="000000"/>
                </a:solidFill>
                <a:latin typeface="Inter"/>
                <a:ea typeface="Inter"/>
                <a:cs typeface="Inter"/>
                <a:sym typeface="Inter"/>
              </a:rPr>
              <a:t>ingin</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dijawab</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adalah</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produk</a:t>
            </a:r>
            <a:r>
              <a:rPr lang="en-US" sz="2798" dirty="0">
                <a:solidFill>
                  <a:srgbClr val="000000"/>
                </a:solidFill>
                <a:latin typeface="Inter"/>
                <a:ea typeface="Inter"/>
                <a:cs typeface="Inter"/>
                <a:sym typeface="Inter"/>
              </a:rPr>
              <a:t> mana yang </a:t>
            </a:r>
            <a:r>
              <a:rPr lang="en-US" sz="2798" dirty="0" err="1">
                <a:solidFill>
                  <a:srgbClr val="000000"/>
                </a:solidFill>
                <a:latin typeface="Inter"/>
                <a:ea typeface="Inter"/>
                <a:cs typeface="Inter"/>
                <a:sym typeface="Inter"/>
              </a:rPr>
              <a:t>memiliki</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penjualan</a:t>
            </a:r>
            <a:r>
              <a:rPr lang="en-US" sz="2798" dirty="0">
                <a:solidFill>
                  <a:srgbClr val="000000"/>
                </a:solidFill>
                <a:latin typeface="Inter"/>
                <a:ea typeface="Inter"/>
                <a:cs typeface="Inter"/>
                <a:sym typeface="Inter"/>
              </a:rPr>
              <a:t> dan revenue </a:t>
            </a:r>
            <a:r>
              <a:rPr lang="en-US" sz="2798" dirty="0" err="1">
                <a:solidFill>
                  <a:srgbClr val="000000"/>
                </a:solidFill>
                <a:latin typeface="Inter"/>
                <a:ea typeface="Inter"/>
                <a:cs typeface="Inter"/>
                <a:sym typeface="Inter"/>
              </a:rPr>
              <a:t>tertinggi</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kapan</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periode</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penjualan</a:t>
            </a:r>
            <a:r>
              <a:rPr lang="en-US" sz="2798" dirty="0">
                <a:solidFill>
                  <a:srgbClr val="000000"/>
                </a:solidFill>
                <a:latin typeface="Inter"/>
                <a:ea typeface="Inter"/>
                <a:cs typeface="Inter"/>
                <a:sym typeface="Inter"/>
              </a:rPr>
              <a:t> paling </a:t>
            </a:r>
            <a:r>
              <a:rPr lang="en-US" sz="2798" dirty="0" err="1">
                <a:solidFill>
                  <a:srgbClr val="000000"/>
                </a:solidFill>
                <a:latin typeface="Inter"/>
                <a:ea typeface="Inter"/>
                <a:cs typeface="Inter"/>
                <a:sym typeface="Inter"/>
              </a:rPr>
              <a:t>tinggi</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serta</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apakah</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terdapat</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pola</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atau</a:t>
            </a:r>
            <a:r>
              <a:rPr lang="en-US" sz="2798" dirty="0">
                <a:solidFill>
                  <a:srgbClr val="000000"/>
                </a:solidFill>
                <a:latin typeface="Inter"/>
                <a:ea typeface="Inter"/>
                <a:cs typeface="Inter"/>
                <a:sym typeface="Inter"/>
              </a:rPr>
              <a:t> </a:t>
            </a:r>
            <a:r>
              <a:rPr lang="en-US" sz="2798" dirty="0" err="1">
                <a:solidFill>
                  <a:srgbClr val="000000"/>
                </a:solidFill>
                <a:latin typeface="Inter"/>
                <a:ea typeface="Inter"/>
                <a:cs typeface="Inter"/>
                <a:sym typeface="Inter"/>
              </a:rPr>
              <a:t>anomali</a:t>
            </a:r>
            <a:r>
              <a:rPr lang="en-US" sz="2798" dirty="0">
                <a:solidFill>
                  <a:srgbClr val="000000"/>
                </a:solidFill>
                <a:latin typeface="Inter"/>
                <a:ea typeface="Inter"/>
                <a:cs typeface="Inter"/>
                <a:sym typeface="Inter"/>
              </a:rPr>
              <a:t> pada data </a:t>
            </a:r>
            <a:r>
              <a:rPr lang="en-US" sz="2798" dirty="0" err="1">
                <a:solidFill>
                  <a:srgbClr val="000000"/>
                </a:solidFill>
                <a:latin typeface="Inter"/>
                <a:ea typeface="Inter"/>
                <a:cs typeface="Inter"/>
                <a:sym typeface="Inter"/>
              </a:rPr>
              <a:t>penjualan</a:t>
            </a:r>
            <a:r>
              <a:rPr lang="en-US" sz="2798" dirty="0">
                <a:solidFill>
                  <a:srgbClr val="000000"/>
                </a:solidFill>
                <a:latin typeface="Inter"/>
                <a:ea typeface="Inter"/>
                <a:cs typeface="Inter"/>
                <a:sym typeface="Inter"/>
              </a:rPr>
              <a:t>.</a:t>
            </a:r>
          </a:p>
          <a:p>
            <a:pPr algn="just">
              <a:lnSpc>
                <a:spcPts val="3917"/>
              </a:lnSpc>
              <a:spcBef>
                <a:spcPct val="0"/>
              </a:spcBef>
            </a:pPr>
            <a:endParaRPr lang="en-US" sz="2798" dirty="0">
              <a:solidFill>
                <a:srgbClr val="000000"/>
              </a:solidFill>
              <a:latin typeface="Inter"/>
              <a:ea typeface="Inter"/>
              <a:cs typeface="Inter"/>
              <a:sym typeface="Inter"/>
            </a:endParaRPr>
          </a:p>
        </p:txBody>
      </p:sp>
      <p:sp>
        <p:nvSpPr>
          <p:cNvPr id="4" name="Freeform 4"/>
          <p:cNvSpPr/>
          <p:nvPr/>
        </p:nvSpPr>
        <p:spPr>
          <a:xfrm flipH="1" flipV="1">
            <a:off x="-631435" y="7462211"/>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5" name="Freeform 5"/>
          <p:cNvSpPr/>
          <p:nvPr/>
        </p:nvSpPr>
        <p:spPr>
          <a:xfrm>
            <a:off x="9632002" y="2938595"/>
            <a:ext cx="8132217" cy="5367263"/>
          </a:xfrm>
          <a:custGeom>
            <a:avLst/>
            <a:gdLst/>
            <a:ahLst/>
            <a:cxnLst/>
            <a:rect l="l" t="t" r="r" b="b"/>
            <a:pathLst>
              <a:path w="8132217" h="5367263">
                <a:moveTo>
                  <a:pt x="0" y="0"/>
                </a:moveTo>
                <a:lnTo>
                  <a:pt x="8132216" y="0"/>
                </a:lnTo>
                <a:lnTo>
                  <a:pt x="8132216" y="5367263"/>
                </a:lnTo>
                <a:lnTo>
                  <a:pt x="0" y="5367263"/>
                </a:lnTo>
                <a:lnTo>
                  <a:pt x="0" y="0"/>
                </a:lnTo>
                <a:close/>
              </a:path>
            </a:pathLst>
          </a:custGeom>
          <a:blipFill>
            <a:blip r:embed="rId4"/>
            <a:stretch>
              <a:fillRect/>
            </a:stretch>
          </a:blipFill>
        </p:spPr>
      </p:sp>
      <p:sp>
        <p:nvSpPr>
          <p:cNvPr id="6" name="TextBox 6"/>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07</a:t>
            </a:r>
          </a:p>
        </p:txBody>
      </p:sp>
      <p:sp>
        <p:nvSpPr>
          <p:cNvPr id="7" name="TextBox 7"/>
          <p:cNvSpPr txBox="1"/>
          <p:nvPr/>
        </p:nvSpPr>
        <p:spPr>
          <a:xfrm>
            <a:off x="903629" y="1790700"/>
            <a:ext cx="7998106" cy="927113"/>
          </a:xfrm>
          <a:prstGeom prst="rect">
            <a:avLst/>
          </a:prstGeom>
        </p:spPr>
        <p:txBody>
          <a:bodyPr wrap="square" lIns="0" tIns="0" rIns="0" bIns="0" rtlCol="0" anchor="t">
            <a:spAutoFit/>
          </a:bodyPr>
          <a:lstStyle/>
          <a:p>
            <a:pPr algn="ctr">
              <a:lnSpc>
                <a:spcPts val="7486"/>
              </a:lnSpc>
              <a:spcBef>
                <a:spcPct val="0"/>
              </a:spcBef>
            </a:pPr>
            <a:r>
              <a:rPr lang="en-US" sz="5347" b="1" dirty="0">
                <a:solidFill>
                  <a:srgbClr val="000000"/>
                </a:solidFill>
                <a:latin typeface="League Spartan"/>
                <a:ea typeface="League Spartan"/>
                <a:cs typeface="League Spartan"/>
                <a:sym typeface="League Spartan"/>
              </a:rPr>
              <a:t>PROBLEM STATEMENT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Freeform 3"/>
          <p:cNvSpPr/>
          <p:nvPr/>
        </p:nvSpPr>
        <p:spPr>
          <a:xfrm flipH="1" flipV="1">
            <a:off x="-5384120" y="7681085"/>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4" name="Freeform 4"/>
          <p:cNvSpPr/>
          <p:nvPr/>
        </p:nvSpPr>
        <p:spPr>
          <a:xfrm>
            <a:off x="1028700" y="2757631"/>
            <a:ext cx="15900702" cy="3808013"/>
          </a:xfrm>
          <a:custGeom>
            <a:avLst/>
            <a:gdLst/>
            <a:ahLst/>
            <a:cxnLst/>
            <a:rect l="l" t="t" r="r" b="b"/>
            <a:pathLst>
              <a:path w="15900702" h="3808013">
                <a:moveTo>
                  <a:pt x="0" y="0"/>
                </a:moveTo>
                <a:lnTo>
                  <a:pt x="15900702" y="0"/>
                </a:lnTo>
                <a:lnTo>
                  <a:pt x="15900702" y="3808013"/>
                </a:lnTo>
                <a:lnTo>
                  <a:pt x="0" y="3808013"/>
                </a:lnTo>
                <a:lnTo>
                  <a:pt x="0" y="0"/>
                </a:lnTo>
                <a:close/>
              </a:path>
            </a:pathLst>
          </a:custGeom>
          <a:blipFill>
            <a:blip r:embed="rId4"/>
            <a:stretch>
              <a:fillRect l="-6566" t="-79206" r="-4503" b="-3835"/>
            </a:stretch>
          </a:blipFill>
        </p:spPr>
      </p:sp>
      <p:sp>
        <p:nvSpPr>
          <p:cNvPr id="5" name="TextBox 5"/>
          <p:cNvSpPr txBox="1"/>
          <p:nvPr/>
        </p:nvSpPr>
        <p:spPr>
          <a:xfrm>
            <a:off x="3768205" y="6924499"/>
            <a:ext cx="13161197" cy="2840541"/>
          </a:xfrm>
          <a:prstGeom prst="rect">
            <a:avLst/>
          </a:prstGeom>
        </p:spPr>
        <p:txBody>
          <a:bodyPr lIns="0" tIns="0" rIns="0" bIns="0" rtlCol="0" anchor="t">
            <a:spAutoFit/>
          </a:bodyPr>
          <a:lstStyle/>
          <a:p>
            <a:pPr algn="just">
              <a:lnSpc>
                <a:spcPts val="3221"/>
              </a:lnSpc>
              <a:spcBef>
                <a:spcPct val="0"/>
              </a:spcBef>
            </a:pPr>
            <a:r>
              <a:rPr lang="en-US" sz="2301">
                <a:solidFill>
                  <a:srgbClr val="000000"/>
                </a:solidFill>
                <a:latin typeface="Inter"/>
                <a:ea typeface="Inter"/>
                <a:cs typeface="Inter"/>
                <a:sym typeface="Inter"/>
              </a:rPr>
              <a:t>Dataset yang digunakan adalah Caffe Sales.csv yang berisi 10.000 transaksi dengan 8 kolom, seperti Transaction ID, Item, Quantity, Price Per Unit, Total Spent, Payment Method, Location, dan Transaction Date. Pada tahap awal ditemukan beberapa masalah kualitas data, seperti missing values, nilai tidak konsisten seperti ERROR dan UNKNOWN, serta tipe data yang belum sesuai.</a:t>
            </a:r>
          </a:p>
          <a:p>
            <a:pPr algn="just">
              <a:lnSpc>
                <a:spcPts val="3221"/>
              </a:lnSpc>
              <a:spcBef>
                <a:spcPct val="0"/>
              </a:spcBef>
            </a:pPr>
            <a:endParaRPr lang="en-US" sz="2301">
              <a:solidFill>
                <a:srgbClr val="000000"/>
              </a:solidFill>
              <a:latin typeface="Inter"/>
              <a:ea typeface="Inter"/>
              <a:cs typeface="Inter"/>
              <a:sym typeface="Inter"/>
            </a:endParaRPr>
          </a:p>
          <a:p>
            <a:pPr algn="just">
              <a:lnSpc>
                <a:spcPts val="3221"/>
              </a:lnSpc>
              <a:spcBef>
                <a:spcPct val="0"/>
              </a:spcBef>
            </a:pPr>
            <a:r>
              <a:rPr lang="en-US" sz="2301">
                <a:solidFill>
                  <a:srgbClr val="000000"/>
                </a:solidFill>
                <a:latin typeface="Inter"/>
                <a:ea typeface="Inter"/>
                <a:cs typeface="Inter"/>
                <a:sym typeface="Inter"/>
              </a:rPr>
              <a:t>Link Dataset: </a:t>
            </a:r>
            <a:r>
              <a:rPr lang="en-US" sz="2301" u="sng">
                <a:solidFill>
                  <a:srgbClr val="000000"/>
                </a:solidFill>
                <a:latin typeface="Inter"/>
                <a:ea typeface="Inter"/>
                <a:cs typeface="Inter"/>
                <a:sym typeface="Inter"/>
                <a:hlinkClick r:id="rId5" tooltip="https://drive.google.com/drive/folders/1AWksosjsTfN-Y7sukK3GzkImtAqSpf_8"/>
              </a:rPr>
              <a:t>Caffe Sales.csv</a:t>
            </a:r>
          </a:p>
          <a:p>
            <a:pPr algn="just">
              <a:lnSpc>
                <a:spcPts val="3221"/>
              </a:lnSpc>
              <a:spcBef>
                <a:spcPct val="0"/>
              </a:spcBef>
            </a:pPr>
            <a:endParaRPr lang="en-US" sz="2301" u="sng">
              <a:solidFill>
                <a:srgbClr val="000000"/>
              </a:solidFill>
              <a:latin typeface="Inter"/>
              <a:ea typeface="Inter"/>
              <a:cs typeface="Inter"/>
              <a:sym typeface="Inter"/>
              <a:hlinkClick r:id="rId5" tooltip="https://drive.google.com/drive/folders/1AWksosjsTfN-Y7sukK3GzkImtAqSpf_8"/>
            </a:endParaRPr>
          </a:p>
        </p:txBody>
      </p:sp>
      <p:sp>
        <p:nvSpPr>
          <p:cNvPr id="6" name="TextBox 6"/>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08</a:t>
            </a:r>
          </a:p>
        </p:txBody>
      </p:sp>
      <p:sp>
        <p:nvSpPr>
          <p:cNvPr id="7" name="TextBox 7"/>
          <p:cNvSpPr txBox="1"/>
          <p:nvPr/>
        </p:nvSpPr>
        <p:spPr>
          <a:xfrm>
            <a:off x="762000" y="1196746"/>
            <a:ext cx="8991600" cy="927113"/>
          </a:xfrm>
          <a:prstGeom prst="rect">
            <a:avLst/>
          </a:prstGeom>
        </p:spPr>
        <p:txBody>
          <a:bodyPr wrap="square" lIns="0" tIns="0" rIns="0" bIns="0" rtlCol="0" anchor="t">
            <a:spAutoFit/>
          </a:bodyPr>
          <a:lstStyle/>
          <a:p>
            <a:pPr algn="ctr">
              <a:lnSpc>
                <a:spcPts val="7486"/>
              </a:lnSpc>
              <a:spcBef>
                <a:spcPct val="0"/>
              </a:spcBef>
            </a:pPr>
            <a:r>
              <a:rPr lang="en-US" sz="5347" b="1" dirty="0">
                <a:solidFill>
                  <a:srgbClr val="000000"/>
                </a:solidFill>
                <a:latin typeface="League Spartan"/>
                <a:ea typeface="League Spartan"/>
                <a:cs typeface="League Spartan"/>
                <a:sym typeface="League Spartan"/>
              </a:rPr>
              <a:t>DATA UNDERSTANDING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Freeform 3"/>
          <p:cNvSpPr/>
          <p:nvPr/>
        </p:nvSpPr>
        <p:spPr>
          <a:xfrm flipH="1" flipV="1">
            <a:off x="12973050" y="5773758"/>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4" name="Freeform 4"/>
          <p:cNvSpPr/>
          <p:nvPr/>
        </p:nvSpPr>
        <p:spPr>
          <a:xfrm>
            <a:off x="1228853" y="3148635"/>
            <a:ext cx="1188340" cy="1449195"/>
          </a:xfrm>
          <a:custGeom>
            <a:avLst/>
            <a:gdLst/>
            <a:ahLst/>
            <a:cxnLst/>
            <a:rect l="l" t="t" r="r" b="b"/>
            <a:pathLst>
              <a:path w="1188340" h="1449195">
                <a:moveTo>
                  <a:pt x="0" y="0"/>
                </a:moveTo>
                <a:lnTo>
                  <a:pt x="1188340" y="0"/>
                </a:lnTo>
                <a:lnTo>
                  <a:pt x="1188340" y="1449195"/>
                </a:lnTo>
                <a:lnTo>
                  <a:pt x="0" y="14491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228853" y="5607480"/>
            <a:ext cx="1388493" cy="1388493"/>
          </a:xfrm>
          <a:custGeom>
            <a:avLst/>
            <a:gdLst/>
            <a:ahLst/>
            <a:cxnLst/>
            <a:rect l="l" t="t" r="r" b="b"/>
            <a:pathLst>
              <a:path w="1388493" h="1388493">
                <a:moveTo>
                  <a:pt x="1388494" y="0"/>
                </a:moveTo>
                <a:lnTo>
                  <a:pt x="0" y="0"/>
                </a:lnTo>
                <a:lnTo>
                  <a:pt x="0" y="1388494"/>
                </a:lnTo>
                <a:lnTo>
                  <a:pt x="1388494" y="1388494"/>
                </a:lnTo>
                <a:lnTo>
                  <a:pt x="1388494"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228853" y="7855782"/>
            <a:ext cx="1388493" cy="1402518"/>
          </a:xfrm>
          <a:custGeom>
            <a:avLst/>
            <a:gdLst/>
            <a:ahLst/>
            <a:cxnLst/>
            <a:rect l="l" t="t" r="r" b="b"/>
            <a:pathLst>
              <a:path w="1388493" h="1402518">
                <a:moveTo>
                  <a:pt x="0" y="0"/>
                </a:moveTo>
                <a:lnTo>
                  <a:pt x="1388494" y="0"/>
                </a:lnTo>
                <a:lnTo>
                  <a:pt x="1388494" y="1402518"/>
                </a:lnTo>
                <a:lnTo>
                  <a:pt x="0" y="14025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09</a:t>
            </a:r>
          </a:p>
        </p:txBody>
      </p:sp>
      <p:sp>
        <p:nvSpPr>
          <p:cNvPr id="8" name="TextBox 8"/>
          <p:cNvSpPr txBox="1"/>
          <p:nvPr/>
        </p:nvSpPr>
        <p:spPr>
          <a:xfrm>
            <a:off x="721796" y="1413071"/>
            <a:ext cx="7315200" cy="927113"/>
          </a:xfrm>
          <a:prstGeom prst="rect">
            <a:avLst/>
          </a:prstGeom>
        </p:spPr>
        <p:txBody>
          <a:bodyPr wrap="square" lIns="0" tIns="0" rIns="0" bIns="0" rtlCol="0" anchor="t">
            <a:spAutoFit/>
          </a:bodyPr>
          <a:lstStyle/>
          <a:p>
            <a:pPr algn="ctr">
              <a:lnSpc>
                <a:spcPts val="7486"/>
              </a:lnSpc>
              <a:spcBef>
                <a:spcPct val="0"/>
              </a:spcBef>
            </a:pPr>
            <a:r>
              <a:rPr lang="en-US" sz="5347" b="1" dirty="0">
                <a:solidFill>
                  <a:srgbClr val="000000"/>
                </a:solidFill>
                <a:latin typeface="League Spartan"/>
                <a:ea typeface="League Spartan"/>
                <a:cs typeface="League Spartan"/>
                <a:sym typeface="League Spartan"/>
              </a:rPr>
              <a:t>DATA CLEANING</a:t>
            </a:r>
          </a:p>
        </p:txBody>
      </p:sp>
      <p:sp>
        <p:nvSpPr>
          <p:cNvPr id="9" name="TextBox 9"/>
          <p:cNvSpPr txBox="1"/>
          <p:nvPr/>
        </p:nvSpPr>
        <p:spPr>
          <a:xfrm>
            <a:off x="2911167" y="2928844"/>
            <a:ext cx="12465667" cy="1982739"/>
          </a:xfrm>
          <a:prstGeom prst="rect">
            <a:avLst/>
          </a:prstGeom>
        </p:spPr>
        <p:txBody>
          <a:bodyPr lIns="0" tIns="0" rIns="0" bIns="0" rtlCol="0" anchor="t">
            <a:spAutoFit/>
          </a:bodyPr>
          <a:lstStyle/>
          <a:p>
            <a:pPr algn="just">
              <a:lnSpc>
                <a:spcPts val="5305"/>
              </a:lnSpc>
              <a:spcBef>
                <a:spcPct val="0"/>
              </a:spcBef>
            </a:pPr>
            <a:r>
              <a:rPr lang="en-US" sz="3789">
                <a:solidFill>
                  <a:srgbClr val="000000"/>
                </a:solidFill>
                <a:latin typeface="Inter"/>
                <a:ea typeface="Inter"/>
                <a:cs typeface="Inter"/>
                <a:sym typeface="Inter"/>
              </a:rPr>
              <a:t>Mengkonversi kolom Quantity, Price Per Unit, dan Total Spent menjadi data numerik. Mengkonversi kolom Transaction Date menjadi datetime.</a:t>
            </a:r>
          </a:p>
        </p:txBody>
      </p:sp>
      <p:sp>
        <p:nvSpPr>
          <p:cNvPr id="10" name="TextBox 10"/>
          <p:cNvSpPr txBox="1"/>
          <p:nvPr/>
        </p:nvSpPr>
        <p:spPr>
          <a:xfrm>
            <a:off x="2911167" y="5939858"/>
            <a:ext cx="12465667" cy="647537"/>
          </a:xfrm>
          <a:prstGeom prst="rect">
            <a:avLst/>
          </a:prstGeom>
        </p:spPr>
        <p:txBody>
          <a:bodyPr lIns="0" tIns="0" rIns="0" bIns="0" rtlCol="0" anchor="t">
            <a:spAutoFit/>
          </a:bodyPr>
          <a:lstStyle/>
          <a:p>
            <a:pPr algn="just">
              <a:lnSpc>
                <a:spcPts val="5305"/>
              </a:lnSpc>
              <a:spcBef>
                <a:spcPct val="0"/>
              </a:spcBef>
            </a:pPr>
            <a:r>
              <a:rPr lang="en-US" sz="3789">
                <a:solidFill>
                  <a:srgbClr val="000000"/>
                </a:solidFill>
                <a:latin typeface="Inter"/>
                <a:ea typeface="Inter"/>
                <a:cs typeface="Inter"/>
                <a:sym typeface="Inter"/>
              </a:rPr>
              <a:t>Cek duplikasi (tidak ditemukan).</a:t>
            </a:r>
          </a:p>
        </p:txBody>
      </p:sp>
      <p:sp>
        <p:nvSpPr>
          <p:cNvPr id="11" name="TextBox 11"/>
          <p:cNvSpPr txBox="1"/>
          <p:nvPr/>
        </p:nvSpPr>
        <p:spPr>
          <a:xfrm>
            <a:off x="2911167" y="7856636"/>
            <a:ext cx="10251658" cy="1353185"/>
          </a:xfrm>
          <a:prstGeom prst="rect">
            <a:avLst/>
          </a:prstGeom>
        </p:spPr>
        <p:txBody>
          <a:bodyPr lIns="0" tIns="0" rIns="0" bIns="0" rtlCol="0" anchor="t">
            <a:spAutoFit/>
          </a:bodyPr>
          <a:lstStyle/>
          <a:p>
            <a:pPr algn="l">
              <a:lnSpc>
                <a:spcPts val="3639"/>
              </a:lnSpc>
              <a:spcBef>
                <a:spcPct val="0"/>
              </a:spcBef>
            </a:pPr>
            <a:r>
              <a:rPr lang="en-US" sz="2599">
                <a:solidFill>
                  <a:srgbClr val="000000"/>
                </a:solidFill>
                <a:latin typeface="Inter"/>
                <a:ea typeface="Inter"/>
                <a:cs typeface="Inter"/>
                <a:sym typeface="Inter"/>
              </a:rPr>
              <a:t>Mengisi missing value kolom kategorikal dengan ‘Unknown’ dan mengisi missing value kolom numerikal dengan nilai median. Mengubah data ‘UNKNOWN’ dan ‘ERROR’ menjadi NaN.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2632" y="-1024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Freeform 3"/>
          <p:cNvSpPr/>
          <p:nvPr/>
        </p:nvSpPr>
        <p:spPr>
          <a:xfrm>
            <a:off x="-564590" y="-4730135"/>
            <a:ext cx="8572500" cy="8229600"/>
          </a:xfrm>
          <a:custGeom>
            <a:avLst/>
            <a:gdLst/>
            <a:ahLst/>
            <a:cxnLst/>
            <a:rect l="l" t="t" r="r" b="b"/>
            <a:pathLst>
              <a:path w="8572500" h="8229600">
                <a:moveTo>
                  <a:pt x="0" y="0"/>
                </a:moveTo>
                <a:lnTo>
                  <a:pt x="8572500" y="0"/>
                </a:lnTo>
                <a:lnTo>
                  <a:pt x="8572500" y="8229600"/>
                </a:lnTo>
                <a:lnTo>
                  <a:pt x="0" y="8229600"/>
                </a:lnTo>
                <a:lnTo>
                  <a:pt x="0" y="0"/>
                </a:lnTo>
                <a:close/>
              </a:path>
            </a:pathLst>
          </a:custGeom>
          <a:blipFill>
            <a:blip r:embed="rId3"/>
            <a:stretch>
              <a:fillRect/>
            </a:stretch>
          </a:blipFill>
        </p:spPr>
      </p:sp>
      <p:sp>
        <p:nvSpPr>
          <p:cNvPr id="4" name="Freeform 4"/>
          <p:cNvSpPr/>
          <p:nvPr/>
        </p:nvSpPr>
        <p:spPr>
          <a:xfrm>
            <a:off x="182302" y="9035180"/>
            <a:ext cx="1252934" cy="1251820"/>
          </a:xfrm>
          <a:custGeom>
            <a:avLst/>
            <a:gdLst/>
            <a:ahLst/>
            <a:cxnLst/>
            <a:rect l="l" t="t" r="r" b="b"/>
            <a:pathLst>
              <a:path w="1252934" h="1251820">
                <a:moveTo>
                  <a:pt x="0" y="0"/>
                </a:moveTo>
                <a:lnTo>
                  <a:pt x="1252934" y="0"/>
                </a:lnTo>
                <a:lnTo>
                  <a:pt x="1252934" y="1251820"/>
                </a:lnTo>
                <a:lnTo>
                  <a:pt x="0" y="1251820"/>
                </a:lnTo>
                <a:lnTo>
                  <a:pt x="0" y="0"/>
                </a:lnTo>
                <a:close/>
              </a:path>
            </a:pathLst>
          </a:custGeom>
          <a:blipFill>
            <a:blip r:embed="rId4"/>
            <a:stretch>
              <a:fillRect/>
            </a:stretch>
          </a:blipFill>
        </p:spPr>
      </p:sp>
      <p:sp>
        <p:nvSpPr>
          <p:cNvPr id="5" name="Freeform 5"/>
          <p:cNvSpPr/>
          <p:nvPr/>
        </p:nvSpPr>
        <p:spPr>
          <a:xfrm flipH="1" flipV="1">
            <a:off x="13829118" y="7506692"/>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6" name="Freeform 6"/>
          <p:cNvSpPr/>
          <p:nvPr/>
        </p:nvSpPr>
        <p:spPr>
          <a:xfrm>
            <a:off x="9842434" y="3579658"/>
            <a:ext cx="8445566" cy="4776645"/>
          </a:xfrm>
          <a:custGeom>
            <a:avLst/>
            <a:gdLst/>
            <a:ahLst/>
            <a:cxnLst/>
            <a:rect l="l" t="t" r="r" b="b"/>
            <a:pathLst>
              <a:path w="8445566" h="4776645">
                <a:moveTo>
                  <a:pt x="0" y="0"/>
                </a:moveTo>
                <a:lnTo>
                  <a:pt x="8445566" y="0"/>
                </a:lnTo>
                <a:lnTo>
                  <a:pt x="8445566" y="4776646"/>
                </a:lnTo>
                <a:lnTo>
                  <a:pt x="0" y="4776646"/>
                </a:lnTo>
                <a:lnTo>
                  <a:pt x="0" y="0"/>
                </a:lnTo>
                <a:close/>
              </a:path>
            </a:pathLst>
          </a:custGeom>
          <a:blipFill>
            <a:blip r:embed="rId5"/>
            <a:stretch>
              <a:fillRect l="-156" r="-156"/>
            </a:stretch>
          </a:blipFill>
        </p:spPr>
      </p:sp>
      <p:sp>
        <p:nvSpPr>
          <p:cNvPr id="7" name="Freeform 7"/>
          <p:cNvSpPr/>
          <p:nvPr/>
        </p:nvSpPr>
        <p:spPr>
          <a:xfrm>
            <a:off x="1622842" y="3499465"/>
            <a:ext cx="6920294" cy="4856839"/>
          </a:xfrm>
          <a:custGeom>
            <a:avLst/>
            <a:gdLst/>
            <a:ahLst/>
            <a:cxnLst/>
            <a:rect l="l" t="t" r="r" b="b"/>
            <a:pathLst>
              <a:path w="6920294" h="4856839">
                <a:moveTo>
                  <a:pt x="0" y="0"/>
                </a:moveTo>
                <a:lnTo>
                  <a:pt x="6920294" y="0"/>
                </a:lnTo>
                <a:lnTo>
                  <a:pt x="6920294" y="4856839"/>
                </a:lnTo>
                <a:lnTo>
                  <a:pt x="0" y="4856839"/>
                </a:lnTo>
                <a:lnTo>
                  <a:pt x="0" y="0"/>
                </a:lnTo>
                <a:close/>
              </a:path>
            </a:pathLst>
          </a:custGeom>
          <a:blipFill>
            <a:blip r:embed="rId6"/>
            <a:stretch>
              <a:fillRect/>
            </a:stretch>
          </a:blipFill>
        </p:spPr>
      </p:sp>
      <p:grpSp>
        <p:nvGrpSpPr>
          <p:cNvPr id="8" name="Group 8"/>
          <p:cNvGrpSpPr/>
          <p:nvPr/>
        </p:nvGrpSpPr>
        <p:grpSpPr>
          <a:xfrm>
            <a:off x="8198951" y="5326536"/>
            <a:ext cx="1404591" cy="1027875"/>
            <a:chOff x="0" y="0"/>
            <a:chExt cx="812800" cy="594804"/>
          </a:xfrm>
        </p:grpSpPr>
        <p:sp>
          <p:nvSpPr>
            <p:cNvPr id="9" name="Freeform 9"/>
            <p:cNvSpPr/>
            <p:nvPr/>
          </p:nvSpPr>
          <p:spPr>
            <a:xfrm>
              <a:off x="0" y="0"/>
              <a:ext cx="812800" cy="594804"/>
            </a:xfrm>
            <a:custGeom>
              <a:avLst/>
              <a:gdLst/>
              <a:ahLst/>
              <a:cxnLst/>
              <a:rect l="l" t="t" r="r" b="b"/>
              <a:pathLst>
                <a:path w="812800" h="594804">
                  <a:moveTo>
                    <a:pt x="812800" y="297402"/>
                  </a:moveTo>
                  <a:lnTo>
                    <a:pt x="406400" y="0"/>
                  </a:lnTo>
                  <a:lnTo>
                    <a:pt x="406400" y="203200"/>
                  </a:lnTo>
                  <a:lnTo>
                    <a:pt x="0" y="203200"/>
                  </a:lnTo>
                  <a:lnTo>
                    <a:pt x="0" y="391604"/>
                  </a:lnTo>
                  <a:lnTo>
                    <a:pt x="406400" y="391604"/>
                  </a:lnTo>
                  <a:lnTo>
                    <a:pt x="406400" y="594804"/>
                  </a:lnTo>
                  <a:lnTo>
                    <a:pt x="812800" y="297402"/>
                  </a:lnTo>
                  <a:close/>
                </a:path>
              </a:pathLst>
            </a:custGeom>
            <a:solidFill>
              <a:srgbClr val="E4A7D6"/>
            </a:solidFill>
          </p:spPr>
        </p:sp>
        <p:sp>
          <p:nvSpPr>
            <p:cNvPr id="10" name="TextBox 10"/>
            <p:cNvSpPr txBox="1"/>
            <p:nvPr/>
          </p:nvSpPr>
          <p:spPr>
            <a:xfrm>
              <a:off x="0" y="165100"/>
              <a:ext cx="711200" cy="226504"/>
            </a:xfrm>
            <a:prstGeom prst="rect">
              <a:avLst/>
            </a:prstGeom>
          </p:spPr>
          <p:txBody>
            <a:bodyPr lIns="50800" tIns="50800" rIns="50800" bIns="50800" rtlCol="0" anchor="ctr"/>
            <a:lstStyle/>
            <a:p>
              <a:pPr algn="ctr">
                <a:lnSpc>
                  <a:spcPts val="2940"/>
                </a:lnSpc>
              </a:pPr>
              <a:endParaRPr/>
            </a:p>
          </p:txBody>
        </p:sp>
      </p:grpSp>
      <p:sp>
        <p:nvSpPr>
          <p:cNvPr id="11" name="TextBox 11"/>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10</a:t>
            </a:r>
          </a:p>
        </p:txBody>
      </p:sp>
      <p:sp>
        <p:nvSpPr>
          <p:cNvPr id="12" name="TextBox 12"/>
          <p:cNvSpPr txBox="1"/>
          <p:nvPr/>
        </p:nvSpPr>
        <p:spPr>
          <a:xfrm>
            <a:off x="3156018" y="1908925"/>
            <a:ext cx="11975964" cy="927113"/>
          </a:xfrm>
          <a:prstGeom prst="rect">
            <a:avLst/>
          </a:prstGeom>
        </p:spPr>
        <p:txBody>
          <a:bodyPr wrap="square" lIns="0" tIns="0" rIns="0" bIns="0" rtlCol="0" anchor="t">
            <a:spAutoFit/>
          </a:bodyPr>
          <a:lstStyle/>
          <a:p>
            <a:pPr algn="ctr">
              <a:lnSpc>
                <a:spcPts val="7486"/>
              </a:lnSpc>
              <a:spcBef>
                <a:spcPct val="0"/>
              </a:spcBef>
            </a:pPr>
            <a:r>
              <a:rPr lang="en-US" sz="5347" b="1" dirty="0">
                <a:solidFill>
                  <a:srgbClr val="000000"/>
                </a:solidFill>
                <a:latin typeface="League Spartan"/>
                <a:ea typeface="League Spartan"/>
                <a:cs typeface="League Spartan"/>
                <a:sym typeface="League Spartan"/>
              </a:rPr>
              <a:t>BEFORE AFTER DATA CLEANING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TextBox 3"/>
          <p:cNvSpPr txBox="1"/>
          <p:nvPr/>
        </p:nvSpPr>
        <p:spPr>
          <a:xfrm>
            <a:off x="1288321" y="1133853"/>
            <a:ext cx="2928082" cy="356235"/>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NORTHLINE GROUP</a:t>
            </a:r>
          </a:p>
        </p:txBody>
      </p:sp>
      <p:sp>
        <p:nvSpPr>
          <p:cNvPr id="4" name="Freeform 4"/>
          <p:cNvSpPr/>
          <p:nvPr/>
        </p:nvSpPr>
        <p:spPr>
          <a:xfrm flipH="1" flipV="1">
            <a:off x="1727598" y="-6751024"/>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5" name="Freeform 5"/>
          <p:cNvSpPr/>
          <p:nvPr/>
        </p:nvSpPr>
        <p:spPr>
          <a:xfrm flipH="1" flipV="1">
            <a:off x="11248646" y="8073390"/>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6" name="Freeform 6"/>
          <p:cNvSpPr/>
          <p:nvPr/>
        </p:nvSpPr>
        <p:spPr>
          <a:xfrm>
            <a:off x="730249" y="2875595"/>
            <a:ext cx="7670797" cy="3789103"/>
          </a:xfrm>
          <a:custGeom>
            <a:avLst/>
            <a:gdLst/>
            <a:ahLst/>
            <a:cxnLst/>
            <a:rect l="l" t="t" r="r" b="b"/>
            <a:pathLst>
              <a:path w="7670797" h="3789103">
                <a:moveTo>
                  <a:pt x="0" y="0"/>
                </a:moveTo>
                <a:lnTo>
                  <a:pt x="7670797" y="0"/>
                </a:lnTo>
                <a:lnTo>
                  <a:pt x="7670797" y="3789103"/>
                </a:lnTo>
                <a:lnTo>
                  <a:pt x="0" y="3789103"/>
                </a:lnTo>
                <a:lnTo>
                  <a:pt x="0" y="0"/>
                </a:lnTo>
                <a:close/>
              </a:path>
            </a:pathLst>
          </a:custGeom>
          <a:blipFill>
            <a:blip r:embed="rId4"/>
            <a:stretch>
              <a:fillRect/>
            </a:stretch>
          </a:blipFill>
        </p:spPr>
      </p:sp>
      <p:sp>
        <p:nvSpPr>
          <p:cNvPr id="7" name="Freeform 7"/>
          <p:cNvSpPr/>
          <p:nvPr/>
        </p:nvSpPr>
        <p:spPr>
          <a:xfrm>
            <a:off x="9855063" y="2994802"/>
            <a:ext cx="7591843" cy="3550689"/>
          </a:xfrm>
          <a:custGeom>
            <a:avLst/>
            <a:gdLst/>
            <a:ahLst/>
            <a:cxnLst/>
            <a:rect l="l" t="t" r="r" b="b"/>
            <a:pathLst>
              <a:path w="7591843" h="3550689">
                <a:moveTo>
                  <a:pt x="0" y="0"/>
                </a:moveTo>
                <a:lnTo>
                  <a:pt x="7591843" y="0"/>
                </a:lnTo>
                <a:lnTo>
                  <a:pt x="7591843" y="3550689"/>
                </a:lnTo>
                <a:lnTo>
                  <a:pt x="0" y="3550689"/>
                </a:lnTo>
                <a:lnTo>
                  <a:pt x="0" y="0"/>
                </a:lnTo>
                <a:close/>
              </a:path>
            </a:pathLst>
          </a:custGeom>
          <a:blipFill>
            <a:blip r:embed="rId5"/>
            <a:stretch>
              <a:fillRect/>
            </a:stretch>
          </a:blipFill>
        </p:spPr>
      </p:sp>
      <p:sp>
        <p:nvSpPr>
          <p:cNvPr id="8" name="Freeform 8"/>
          <p:cNvSpPr/>
          <p:nvPr/>
        </p:nvSpPr>
        <p:spPr>
          <a:xfrm>
            <a:off x="5495805" y="6664698"/>
            <a:ext cx="7296391" cy="3473512"/>
          </a:xfrm>
          <a:custGeom>
            <a:avLst/>
            <a:gdLst/>
            <a:ahLst/>
            <a:cxnLst/>
            <a:rect l="l" t="t" r="r" b="b"/>
            <a:pathLst>
              <a:path w="7296391" h="3473512">
                <a:moveTo>
                  <a:pt x="0" y="0"/>
                </a:moveTo>
                <a:lnTo>
                  <a:pt x="7296390" y="0"/>
                </a:lnTo>
                <a:lnTo>
                  <a:pt x="7296390" y="3473512"/>
                </a:lnTo>
                <a:lnTo>
                  <a:pt x="0" y="3473512"/>
                </a:lnTo>
                <a:lnTo>
                  <a:pt x="0" y="0"/>
                </a:lnTo>
                <a:close/>
              </a:path>
            </a:pathLst>
          </a:custGeom>
          <a:blipFill>
            <a:blip r:embed="rId6"/>
            <a:stretch>
              <a:fillRect/>
            </a:stretch>
          </a:blipFill>
        </p:spPr>
      </p:sp>
      <p:sp>
        <p:nvSpPr>
          <p:cNvPr id="9" name="TextBox 9"/>
          <p:cNvSpPr txBox="1"/>
          <p:nvPr/>
        </p:nvSpPr>
        <p:spPr>
          <a:xfrm>
            <a:off x="1028700" y="1582444"/>
            <a:ext cx="13474717" cy="833856"/>
          </a:xfrm>
          <a:prstGeom prst="rect">
            <a:avLst/>
          </a:prstGeom>
        </p:spPr>
        <p:txBody>
          <a:bodyPr lIns="0" tIns="0" rIns="0" bIns="0" rtlCol="0" anchor="t">
            <a:spAutoFit/>
          </a:bodyPr>
          <a:lstStyle/>
          <a:p>
            <a:pPr algn="l">
              <a:lnSpc>
                <a:spcPts val="6811"/>
              </a:lnSpc>
              <a:spcBef>
                <a:spcPct val="0"/>
              </a:spcBef>
            </a:pPr>
            <a:r>
              <a:rPr lang="en-US" sz="4865" b="1">
                <a:solidFill>
                  <a:srgbClr val="000000"/>
                </a:solidFill>
                <a:latin typeface="Bricolage Grotesque Bold"/>
                <a:ea typeface="Bricolage Grotesque Bold"/>
                <a:cs typeface="Bricolage Grotesque Bold"/>
                <a:sym typeface="Bricolage Grotesque Bold"/>
              </a:rPr>
              <a:t>OUTLIER VISUALIZATION BY USING BOX PLOT</a:t>
            </a:r>
          </a:p>
        </p:txBody>
      </p:sp>
      <p:sp>
        <p:nvSpPr>
          <p:cNvPr id="10" name="TextBox 10"/>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TextBox 3"/>
          <p:cNvSpPr txBox="1"/>
          <p:nvPr/>
        </p:nvSpPr>
        <p:spPr>
          <a:xfrm>
            <a:off x="1288321" y="1133853"/>
            <a:ext cx="2928082" cy="356235"/>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NORTHLINE GROUP</a:t>
            </a:r>
          </a:p>
        </p:txBody>
      </p:sp>
      <p:sp>
        <p:nvSpPr>
          <p:cNvPr id="4" name="Freeform 4"/>
          <p:cNvSpPr/>
          <p:nvPr/>
        </p:nvSpPr>
        <p:spPr>
          <a:xfrm flipH="1" flipV="1">
            <a:off x="1727598" y="-6751024"/>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5" name="Freeform 5"/>
          <p:cNvSpPr/>
          <p:nvPr/>
        </p:nvSpPr>
        <p:spPr>
          <a:xfrm flipH="1" flipV="1">
            <a:off x="11248646" y="8073390"/>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6" name="Freeform 6"/>
          <p:cNvSpPr/>
          <p:nvPr/>
        </p:nvSpPr>
        <p:spPr>
          <a:xfrm>
            <a:off x="1288321" y="3398722"/>
            <a:ext cx="6026217" cy="6665792"/>
          </a:xfrm>
          <a:custGeom>
            <a:avLst/>
            <a:gdLst/>
            <a:ahLst/>
            <a:cxnLst/>
            <a:rect l="l" t="t" r="r" b="b"/>
            <a:pathLst>
              <a:path w="6026217" h="6665792">
                <a:moveTo>
                  <a:pt x="0" y="0"/>
                </a:moveTo>
                <a:lnTo>
                  <a:pt x="6026217" y="0"/>
                </a:lnTo>
                <a:lnTo>
                  <a:pt x="6026217" y="6665792"/>
                </a:lnTo>
                <a:lnTo>
                  <a:pt x="0" y="6665792"/>
                </a:lnTo>
                <a:lnTo>
                  <a:pt x="0" y="0"/>
                </a:lnTo>
                <a:close/>
              </a:path>
            </a:pathLst>
          </a:custGeom>
          <a:blipFill>
            <a:blip r:embed="rId4"/>
            <a:stretch>
              <a:fillRect/>
            </a:stretch>
          </a:blipFill>
        </p:spPr>
      </p:sp>
      <p:sp>
        <p:nvSpPr>
          <p:cNvPr id="7" name="TextBox 7"/>
          <p:cNvSpPr txBox="1"/>
          <p:nvPr/>
        </p:nvSpPr>
        <p:spPr>
          <a:xfrm>
            <a:off x="1288321" y="1394838"/>
            <a:ext cx="13474717" cy="1696044"/>
          </a:xfrm>
          <a:prstGeom prst="rect">
            <a:avLst/>
          </a:prstGeom>
        </p:spPr>
        <p:txBody>
          <a:bodyPr lIns="0" tIns="0" rIns="0" bIns="0" rtlCol="0" anchor="t">
            <a:spAutoFit/>
          </a:bodyPr>
          <a:lstStyle/>
          <a:p>
            <a:pPr algn="l">
              <a:lnSpc>
                <a:spcPts val="6811"/>
              </a:lnSpc>
              <a:spcBef>
                <a:spcPct val="0"/>
              </a:spcBef>
            </a:pPr>
            <a:r>
              <a:rPr lang="en-US" sz="4865" b="1">
                <a:solidFill>
                  <a:srgbClr val="000000"/>
                </a:solidFill>
                <a:latin typeface="Bricolage Grotesque Bold"/>
                <a:ea typeface="Bricolage Grotesque Bold"/>
                <a:cs typeface="Bricolage Grotesque Bold"/>
                <a:sym typeface="Bricolage Grotesque Bold"/>
              </a:rPr>
              <a:t>OUTLIER DETECTION USING FREQUENCY ENCODING + IQR METHOD</a:t>
            </a:r>
          </a:p>
        </p:txBody>
      </p:sp>
      <p:sp>
        <p:nvSpPr>
          <p:cNvPr id="8" name="TextBox 8"/>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12</a:t>
            </a:r>
          </a:p>
        </p:txBody>
      </p:sp>
      <p:sp>
        <p:nvSpPr>
          <p:cNvPr id="9" name="TextBox 9"/>
          <p:cNvSpPr txBox="1"/>
          <p:nvPr/>
        </p:nvSpPr>
        <p:spPr>
          <a:xfrm>
            <a:off x="8612642" y="4642019"/>
            <a:ext cx="8254278" cy="1842135"/>
          </a:xfrm>
          <a:prstGeom prst="rect">
            <a:avLst/>
          </a:prstGeom>
        </p:spPr>
        <p:txBody>
          <a:bodyPr lIns="0" tIns="0" rIns="0" bIns="0" rtlCol="0" anchor="t">
            <a:spAutoFit/>
          </a:bodyPr>
          <a:lstStyle/>
          <a:p>
            <a:pPr marL="453390" lvl="1" indent="-226695" algn="l">
              <a:lnSpc>
                <a:spcPts val="2940"/>
              </a:lnSpc>
              <a:spcBef>
                <a:spcPct val="0"/>
              </a:spcBef>
              <a:buFont typeface="Arial"/>
              <a:buChar char="•"/>
            </a:pPr>
            <a:r>
              <a:rPr lang="en-US" sz="2100" b="1">
                <a:solidFill>
                  <a:srgbClr val="000000"/>
                </a:solidFill>
                <a:latin typeface="Inter Medium"/>
                <a:ea typeface="Inter Medium"/>
                <a:cs typeface="Inter Medium"/>
                <a:sym typeface="Inter Medium"/>
              </a:rPr>
              <a:t>Berdasarkan metode IQR pada frekuensi kategori, Unknown terdeteksi sebagai kategori dengan frekuensi rendah.</a:t>
            </a:r>
          </a:p>
          <a:p>
            <a:pPr marL="453390" lvl="1" indent="-226695" algn="l">
              <a:lnSpc>
                <a:spcPts val="2940"/>
              </a:lnSpc>
              <a:spcBef>
                <a:spcPct val="0"/>
              </a:spcBef>
              <a:buFont typeface="Arial"/>
              <a:buChar char="•"/>
            </a:pPr>
            <a:r>
              <a:rPr lang="en-US" sz="2100" b="1">
                <a:solidFill>
                  <a:srgbClr val="000000"/>
                </a:solidFill>
                <a:latin typeface="Inter Medium"/>
                <a:ea typeface="Inter Medium"/>
                <a:cs typeface="Inter Medium"/>
                <a:sym typeface="Inter Medium"/>
              </a:rPr>
              <a:t>Kategori produk lainnya memiliki frekuensi yang relatif seimbang, yaitu 1.089–1.171 transaksi.</a:t>
            </a:r>
          </a:p>
          <a:p>
            <a:pPr algn="l">
              <a:lnSpc>
                <a:spcPts val="2940"/>
              </a:lnSpc>
              <a:spcBef>
                <a:spcPct val="0"/>
              </a:spcBef>
            </a:pPr>
            <a:endParaRPr lang="en-US" sz="2100" b="1">
              <a:solidFill>
                <a:srgbClr val="000000"/>
              </a:solidFill>
              <a:latin typeface="Inter Medium"/>
              <a:ea typeface="Inter Medium"/>
              <a:cs typeface="Inter Medium"/>
              <a:sym typeface="Inter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443" y="-419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Freeform 3"/>
          <p:cNvSpPr/>
          <p:nvPr/>
        </p:nvSpPr>
        <p:spPr>
          <a:xfrm flipH="1" flipV="1">
            <a:off x="-5384120" y="7681085"/>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4" name="Freeform 4"/>
          <p:cNvSpPr/>
          <p:nvPr/>
        </p:nvSpPr>
        <p:spPr>
          <a:xfrm>
            <a:off x="1545804" y="3093118"/>
            <a:ext cx="14977573" cy="5722329"/>
          </a:xfrm>
          <a:custGeom>
            <a:avLst/>
            <a:gdLst/>
            <a:ahLst/>
            <a:cxnLst/>
            <a:rect l="l" t="t" r="r" b="b"/>
            <a:pathLst>
              <a:path w="14977573" h="5722329">
                <a:moveTo>
                  <a:pt x="0" y="0"/>
                </a:moveTo>
                <a:lnTo>
                  <a:pt x="14977573" y="0"/>
                </a:lnTo>
                <a:lnTo>
                  <a:pt x="14977573" y="5722329"/>
                </a:lnTo>
                <a:lnTo>
                  <a:pt x="0" y="5722329"/>
                </a:lnTo>
                <a:lnTo>
                  <a:pt x="0" y="0"/>
                </a:lnTo>
                <a:close/>
              </a:path>
            </a:pathLst>
          </a:custGeom>
          <a:blipFill>
            <a:blip r:embed="rId4"/>
            <a:stretch>
              <a:fillRect/>
            </a:stretch>
          </a:blipFill>
        </p:spPr>
      </p:sp>
      <p:sp>
        <p:nvSpPr>
          <p:cNvPr id="5" name="TextBox 5"/>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13</a:t>
            </a:r>
          </a:p>
        </p:txBody>
      </p:sp>
      <p:sp>
        <p:nvSpPr>
          <p:cNvPr id="6" name="TextBox 6"/>
          <p:cNvSpPr txBox="1"/>
          <p:nvPr/>
        </p:nvSpPr>
        <p:spPr>
          <a:xfrm>
            <a:off x="4780222" y="1770777"/>
            <a:ext cx="8716670" cy="927113"/>
          </a:xfrm>
          <a:prstGeom prst="rect">
            <a:avLst/>
          </a:prstGeom>
        </p:spPr>
        <p:txBody>
          <a:bodyPr wrap="square" lIns="0" tIns="0" rIns="0" bIns="0" rtlCol="0" anchor="t">
            <a:spAutoFit/>
          </a:bodyPr>
          <a:lstStyle/>
          <a:p>
            <a:pPr algn="ctr">
              <a:lnSpc>
                <a:spcPts val="7486"/>
              </a:lnSpc>
              <a:spcBef>
                <a:spcPct val="0"/>
              </a:spcBef>
            </a:pPr>
            <a:r>
              <a:rPr lang="en-US" sz="5347" b="1" dirty="0">
                <a:solidFill>
                  <a:srgbClr val="000000"/>
                </a:solidFill>
                <a:latin typeface="League Spartan"/>
                <a:ea typeface="League Spartan"/>
                <a:cs typeface="League Spartan"/>
                <a:sym typeface="League Spartan"/>
              </a:rPr>
              <a:t>FEATURE ENGINEERING</a:t>
            </a:r>
          </a:p>
        </p:txBody>
      </p:sp>
      <p:sp>
        <p:nvSpPr>
          <p:cNvPr id="7" name="TextBox 7"/>
          <p:cNvSpPr txBox="1"/>
          <p:nvPr/>
        </p:nvSpPr>
        <p:spPr>
          <a:xfrm>
            <a:off x="5226659" y="9210675"/>
            <a:ext cx="7834682" cy="412418"/>
          </a:xfrm>
          <a:prstGeom prst="rect">
            <a:avLst/>
          </a:prstGeom>
        </p:spPr>
        <p:txBody>
          <a:bodyPr lIns="0" tIns="0" rIns="0" bIns="0" rtlCol="0" anchor="t">
            <a:spAutoFit/>
          </a:bodyPr>
          <a:lstStyle/>
          <a:p>
            <a:pPr algn="l">
              <a:lnSpc>
                <a:spcPts val="3371"/>
              </a:lnSpc>
              <a:spcBef>
                <a:spcPct val="0"/>
              </a:spcBef>
            </a:pPr>
            <a:r>
              <a:rPr lang="en-US" sz="2407" b="1">
                <a:solidFill>
                  <a:srgbClr val="000000"/>
                </a:solidFill>
                <a:latin typeface="Inter Medium"/>
                <a:ea typeface="Inter Medium"/>
                <a:cs typeface="Inter Medium"/>
                <a:sym typeface="Inter Medium"/>
              </a:rPr>
              <a:t>Membuat tiga kolom baru: Spending Level, Day, Month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0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Freeform 3"/>
          <p:cNvSpPr/>
          <p:nvPr/>
        </p:nvSpPr>
        <p:spPr>
          <a:xfrm flipH="1" flipV="1">
            <a:off x="14385456" y="1171953"/>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4" name="Freeform 4"/>
          <p:cNvSpPr/>
          <p:nvPr/>
        </p:nvSpPr>
        <p:spPr>
          <a:xfrm>
            <a:off x="659808" y="3073637"/>
            <a:ext cx="8484192" cy="4426233"/>
          </a:xfrm>
          <a:custGeom>
            <a:avLst/>
            <a:gdLst/>
            <a:ahLst/>
            <a:cxnLst/>
            <a:rect l="l" t="t" r="r" b="b"/>
            <a:pathLst>
              <a:path w="8484192" h="4426233">
                <a:moveTo>
                  <a:pt x="0" y="0"/>
                </a:moveTo>
                <a:lnTo>
                  <a:pt x="8484192" y="0"/>
                </a:lnTo>
                <a:lnTo>
                  <a:pt x="8484192" y="4426232"/>
                </a:lnTo>
                <a:lnTo>
                  <a:pt x="0" y="4426232"/>
                </a:lnTo>
                <a:lnTo>
                  <a:pt x="0" y="0"/>
                </a:lnTo>
                <a:close/>
              </a:path>
            </a:pathLst>
          </a:custGeom>
          <a:blipFill>
            <a:blip r:embed="rId4"/>
            <a:stretch>
              <a:fillRect/>
            </a:stretch>
          </a:blipFill>
        </p:spPr>
      </p:sp>
      <p:sp>
        <p:nvSpPr>
          <p:cNvPr id="5" name="Freeform 5"/>
          <p:cNvSpPr/>
          <p:nvPr/>
        </p:nvSpPr>
        <p:spPr>
          <a:xfrm>
            <a:off x="9293959" y="3073637"/>
            <a:ext cx="8994041" cy="4358651"/>
          </a:xfrm>
          <a:custGeom>
            <a:avLst/>
            <a:gdLst/>
            <a:ahLst/>
            <a:cxnLst/>
            <a:rect l="l" t="t" r="r" b="b"/>
            <a:pathLst>
              <a:path w="8994041" h="4358651">
                <a:moveTo>
                  <a:pt x="0" y="0"/>
                </a:moveTo>
                <a:lnTo>
                  <a:pt x="8994041" y="0"/>
                </a:lnTo>
                <a:lnTo>
                  <a:pt x="8994041" y="4358650"/>
                </a:lnTo>
                <a:lnTo>
                  <a:pt x="0" y="4358650"/>
                </a:lnTo>
                <a:lnTo>
                  <a:pt x="0" y="0"/>
                </a:lnTo>
                <a:close/>
              </a:path>
            </a:pathLst>
          </a:custGeom>
          <a:blipFill>
            <a:blip r:embed="rId5"/>
            <a:stretch>
              <a:fillRect/>
            </a:stretch>
          </a:blipFill>
        </p:spPr>
      </p:sp>
      <p:sp>
        <p:nvSpPr>
          <p:cNvPr id="6" name="TextBox 6"/>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14</a:t>
            </a:r>
          </a:p>
        </p:txBody>
      </p:sp>
      <p:sp>
        <p:nvSpPr>
          <p:cNvPr id="7" name="TextBox 7"/>
          <p:cNvSpPr txBox="1"/>
          <p:nvPr/>
        </p:nvSpPr>
        <p:spPr>
          <a:xfrm>
            <a:off x="4646979" y="1632820"/>
            <a:ext cx="8994041" cy="902170"/>
          </a:xfrm>
          <a:prstGeom prst="rect">
            <a:avLst/>
          </a:prstGeom>
        </p:spPr>
        <p:txBody>
          <a:bodyPr wrap="square" lIns="0" tIns="0" rIns="0" bIns="0" rtlCol="0" anchor="t">
            <a:spAutoFit/>
          </a:bodyPr>
          <a:lstStyle/>
          <a:p>
            <a:pPr algn="ctr">
              <a:lnSpc>
                <a:spcPts val="7279"/>
              </a:lnSpc>
              <a:spcBef>
                <a:spcPct val="0"/>
              </a:spcBef>
            </a:pPr>
            <a:r>
              <a:rPr lang="en-US" sz="5199" dirty="0">
                <a:solidFill>
                  <a:srgbClr val="000000"/>
                </a:solidFill>
                <a:latin typeface="League Spartan"/>
                <a:ea typeface="League Spartan"/>
                <a:cs typeface="League Spartan"/>
                <a:sym typeface="League Spartan"/>
              </a:rPr>
              <a:t>VISUALIZATION OUTPUT</a:t>
            </a:r>
          </a:p>
        </p:txBody>
      </p:sp>
      <p:sp>
        <p:nvSpPr>
          <p:cNvPr id="8" name="TextBox 8"/>
          <p:cNvSpPr txBox="1"/>
          <p:nvPr/>
        </p:nvSpPr>
        <p:spPr>
          <a:xfrm>
            <a:off x="659808" y="7970935"/>
            <a:ext cx="17698002" cy="1842135"/>
          </a:xfrm>
          <a:prstGeom prst="rect">
            <a:avLst/>
          </a:prstGeom>
        </p:spPr>
        <p:txBody>
          <a:bodyPr lIns="0" tIns="0" rIns="0" bIns="0" rtlCol="0" anchor="t">
            <a:spAutoFit/>
          </a:bodyPr>
          <a:lstStyle/>
          <a:p>
            <a:pPr algn="ctr">
              <a:lnSpc>
                <a:spcPts val="2940"/>
              </a:lnSpc>
            </a:pPr>
            <a:r>
              <a:rPr lang="en-US" sz="2100">
                <a:solidFill>
                  <a:srgbClr val="000000"/>
                </a:solidFill>
                <a:latin typeface="Inter"/>
                <a:ea typeface="Inter"/>
                <a:cs typeface="Inter"/>
                <a:sym typeface="Inter"/>
              </a:rPr>
              <a:t>Insight:</a:t>
            </a:r>
          </a:p>
          <a:p>
            <a:pPr marL="453390" lvl="1" indent="-226695" algn="l">
              <a:lnSpc>
                <a:spcPts val="2940"/>
              </a:lnSpc>
              <a:buFont typeface="Arial"/>
              <a:buChar char="•"/>
            </a:pPr>
            <a:r>
              <a:rPr lang="en-US" sz="2100">
                <a:solidFill>
                  <a:srgbClr val="000000"/>
                </a:solidFill>
                <a:latin typeface="Inter"/>
                <a:ea typeface="Inter"/>
                <a:cs typeface="Inter"/>
                <a:sym typeface="Inter"/>
              </a:rPr>
              <a:t>Salad menghasilkan total revenue tertinggi dibandingkan item lainnya, sehingga menjadi produk dengan kontribusi terbesar terhadap pendapatan café.</a:t>
            </a:r>
          </a:p>
          <a:p>
            <a:pPr marL="453390" lvl="1" indent="-226695" algn="l">
              <a:lnSpc>
                <a:spcPts val="2940"/>
              </a:lnSpc>
              <a:spcBef>
                <a:spcPct val="0"/>
              </a:spcBef>
              <a:buFont typeface="Arial"/>
              <a:buChar char="•"/>
            </a:pPr>
            <a:r>
              <a:rPr lang="en-US" sz="2100">
                <a:solidFill>
                  <a:srgbClr val="000000"/>
                </a:solidFill>
                <a:latin typeface="Inter"/>
                <a:ea typeface="Inter"/>
                <a:cs typeface="Inter"/>
                <a:sym typeface="Inter"/>
              </a:rPr>
              <a:t>Coffee menjadi produk dengan jumlah penjualan tertinggi, menunjukkan bahwa produk ini memiliki permintaan pelanggan yang paling tinggi.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Freeform 3"/>
          <p:cNvSpPr/>
          <p:nvPr/>
        </p:nvSpPr>
        <p:spPr>
          <a:xfrm flipH="1" flipV="1">
            <a:off x="1502810" y="-6739512"/>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4" name="Freeform 4"/>
          <p:cNvSpPr/>
          <p:nvPr/>
        </p:nvSpPr>
        <p:spPr>
          <a:xfrm>
            <a:off x="-1533887" y="8472939"/>
            <a:ext cx="8572500" cy="8229600"/>
          </a:xfrm>
          <a:custGeom>
            <a:avLst/>
            <a:gdLst/>
            <a:ahLst/>
            <a:cxnLst/>
            <a:rect l="l" t="t" r="r" b="b"/>
            <a:pathLst>
              <a:path w="8572500" h="8229600">
                <a:moveTo>
                  <a:pt x="0" y="0"/>
                </a:moveTo>
                <a:lnTo>
                  <a:pt x="8572500" y="0"/>
                </a:lnTo>
                <a:lnTo>
                  <a:pt x="8572500" y="8229600"/>
                </a:lnTo>
                <a:lnTo>
                  <a:pt x="0" y="8229600"/>
                </a:lnTo>
                <a:lnTo>
                  <a:pt x="0" y="0"/>
                </a:lnTo>
                <a:close/>
              </a:path>
            </a:pathLst>
          </a:custGeom>
          <a:blipFill>
            <a:blip r:embed="rId3"/>
            <a:stretch>
              <a:fillRect/>
            </a:stretch>
          </a:blipFill>
        </p:spPr>
      </p:sp>
      <p:sp>
        <p:nvSpPr>
          <p:cNvPr id="5" name="Freeform 5"/>
          <p:cNvSpPr/>
          <p:nvPr/>
        </p:nvSpPr>
        <p:spPr>
          <a:xfrm>
            <a:off x="5539524" y="8006480"/>
            <a:ext cx="1252934" cy="1251820"/>
          </a:xfrm>
          <a:custGeom>
            <a:avLst/>
            <a:gdLst/>
            <a:ahLst/>
            <a:cxnLst/>
            <a:rect l="l" t="t" r="r" b="b"/>
            <a:pathLst>
              <a:path w="1252934" h="1251820">
                <a:moveTo>
                  <a:pt x="0" y="0"/>
                </a:moveTo>
                <a:lnTo>
                  <a:pt x="1252934" y="0"/>
                </a:lnTo>
                <a:lnTo>
                  <a:pt x="1252934" y="1251820"/>
                </a:lnTo>
                <a:lnTo>
                  <a:pt x="0" y="1251820"/>
                </a:lnTo>
                <a:lnTo>
                  <a:pt x="0" y="0"/>
                </a:lnTo>
                <a:close/>
              </a:path>
            </a:pathLst>
          </a:custGeom>
          <a:blipFill>
            <a:blip r:embed="rId4"/>
            <a:stretch>
              <a:fillRect/>
            </a:stretch>
          </a:blipFill>
        </p:spPr>
      </p:sp>
      <p:sp>
        <p:nvSpPr>
          <p:cNvPr id="6" name="Freeform 6"/>
          <p:cNvSpPr/>
          <p:nvPr/>
        </p:nvSpPr>
        <p:spPr>
          <a:xfrm>
            <a:off x="1502810" y="2977624"/>
            <a:ext cx="15693818" cy="6595190"/>
          </a:xfrm>
          <a:custGeom>
            <a:avLst/>
            <a:gdLst/>
            <a:ahLst/>
            <a:cxnLst/>
            <a:rect l="l" t="t" r="r" b="b"/>
            <a:pathLst>
              <a:path w="15693818" h="6595190">
                <a:moveTo>
                  <a:pt x="0" y="0"/>
                </a:moveTo>
                <a:lnTo>
                  <a:pt x="15693819" y="0"/>
                </a:lnTo>
                <a:lnTo>
                  <a:pt x="15693819" y="6595190"/>
                </a:lnTo>
                <a:lnTo>
                  <a:pt x="0" y="6595190"/>
                </a:lnTo>
                <a:lnTo>
                  <a:pt x="0" y="0"/>
                </a:lnTo>
                <a:close/>
              </a:path>
            </a:pathLst>
          </a:custGeom>
          <a:blipFill>
            <a:blip r:embed="rId5"/>
            <a:stretch>
              <a:fillRect/>
            </a:stretch>
          </a:blipFill>
        </p:spPr>
      </p:sp>
      <p:sp>
        <p:nvSpPr>
          <p:cNvPr id="7" name="TextBox 7"/>
          <p:cNvSpPr txBox="1"/>
          <p:nvPr/>
        </p:nvSpPr>
        <p:spPr>
          <a:xfrm>
            <a:off x="1288321" y="1133853"/>
            <a:ext cx="2928082" cy="356235"/>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NORTHLINE GROUP</a:t>
            </a:r>
          </a:p>
        </p:txBody>
      </p:sp>
      <p:sp>
        <p:nvSpPr>
          <p:cNvPr id="8" name="TextBox 8"/>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15</a:t>
            </a:r>
          </a:p>
        </p:txBody>
      </p:sp>
      <p:sp>
        <p:nvSpPr>
          <p:cNvPr id="9" name="TextBox 9"/>
          <p:cNvSpPr txBox="1"/>
          <p:nvPr/>
        </p:nvSpPr>
        <p:spPr>
          <a:xfrm>
            <a:off x="4978663" y="1590941"/>
            <a:ext cx="10193294" cy="1126097"/>
          </a:xfrm>
          <a:prstGeom prst="rect">
            <a:avLst/>
          </a:prstGeom>
        </p:spPr>
        <p:txBody>
          <a:bodyPr lIns="0" tIns="0" rIns="0" bIns="0" rtlCol="0" anchor="t">
            <a:spAutoFit/>
          </a:bodyPr>
          <a:lstStyle/>
          <a:p>
            <a:pPr algn="l">
              <a:lnSpc>
                <a:spcPts val="9151"/>
              </a:lnSpc>
              <a:spcBef>
                <a:spcPct val="0"/>
              </a:spcBef>
            </a:pPr>
            <a:r>
              <a:rPr lang="en-US" sz="6536" b="1" dirty="0">
                <a:solidFill>
                  <a:srgbClr val="000000"/>
                </a:solidFill>
                <a:latin typeface="Bricolage Grotesque Bold"/>
                <a:ea typeface="Bricolage Grotesque Bold"/>
                <a:cs typeface="Bricolage Grotesque Bold"/>
                <a:sym typeface="Bricolage Grotesque Bold"/>
              </a:rPr>
              <a:t>VISUALIZATION OUTPUT</a:t>
            </a:r>
          </a:p>
        </p:txBody>
      </p:sp>
      <p:sp>
        <p:nvSpPr>
          <p:cNvPr id="10" name="TextBox 10"/>
          <p:cNvSpPr txBox="1"/>
          <p:nvPr/>
        </p:nvSpPr>
        <p:spPr>
          <a:xfrm>
            <a:off x="2752363" y="9782364"/>
            <a:ext cx="12719050" cy="356235"/>
          </a:xfrm>
          <a:prstGeom prst="rect">
            <a:avLst/>
          </a:prstGeom>
        </p:spPr>
        <p:txBody>
          <a:bodyPr lIns="0" tIns="0" rIns="0" bIns="0" rtlCol="0" anchor="t">
            <a:spAutoFit/>
          </a:bodyPr>
          <a:lstStyle/>
          <a:p>
            <a:pPr algn="ctr">
              <a:lnSpc>
                <a:spcPts val="2940"/>
              </a:lnSpc>
              <a:spcBef>
                <a:spcPct val="0"/>
              </a:spcBef>
            </a:pPr>
            <a:r>
              <a:rPr lang="en-US" sz="2100" b="1">
                <a:solidFill>
                  <a:srgbClr val="000000"/>
                </a:solidFill>
                <a:latin typeface="Inter Medium"/>
                <a:ea typeface="Inter Medium"/>
                <a:cs typeface="Inter Medium"/>
                <a:sym typeface="Inter Medium"/>
              </a:rPr>
              <a:t>Insight: Februari memiliki revenue tertinggi dengan selisih yang signifikan dibandingkan bulan lainnya.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Freeform 3"/>
          <p:cNvSpPr/>
          <p:nvPr/>
        </p:nvSpPr>
        <p:spPr>
          <a:xfrm flipH="1" flipV="1">
            <a:off x="16011550" y="5538064"/>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4" name="Freeform 4"/>
          <p:cNvSpPr/>
          <p:nvPr/>
        </p:nvSpPr>
        <p:spPr>
          <a:xfrm>
            <a:off x="-5470871" y="-2220421"/>
            <a:ext cx="8572500" cy="8229600"/>
          </a:xfrm>
          <a:custGeom>
            <a:avLst/>
            <a:gdLst/>
            <a:ahLst/>
            <a:cxnLst/>
            <a:rect l="l" t="t" r="r" b="b"/>
            <a:pathLst>
              <a:path w="8572500" h="8229600">
                <a:moveTo>
                  <a:pt x="0" y="0"/>
                </a:moveTo>
                <a:lnTo>
                  <a:pt x="8572500" y="0"/>
                </a:lnTo>
                <a:lnTo>
                  <a:pt x="8572500" y="8229600"/>
                </a:lnTo>
                <a:lnTo>
                  <a:pt x="0" y="8229600"/>
                </a:lnTo>
                <a:lnTo>
                  <a:pt x="0" y="0"/>
                </a:lnTo>
                <a:close/>
              </a:path>
            </a:pathLst>
          </a:custGeom>
          <a:blipFill>
            <a:blip r:embed="rId3"/>
            <a:stretch>
              <a:fillRect/>
            </a:stretch>
          </a:blipFill>
        </p:spPr>
      </p:sp>
      <p:sp>
        <p:nvSpPr>
          <p:cNvPr id="5" name="Freeform 5"/>
          <p:cNvSpPr/>
          <p:nvPr/>
        </p:nvSpPr>
        <p:spPr>
          <a:xfrm>
            <a:off x="15622414" y="5092767"/>
            <a:ext cx="1252934" cy="1251820"/>
          </a:xfrm>
          <a:custGeom>
            <a:avLst/>
            <a:gdLst/>
            <a:ahLst/>
            <a:cxnLst/>
            <a:rect l="l" t="t" r="r" b="b"/>
            <a:pathLst>
              <a:path w="1252934" h="1251820">
                <a:moveTo>
                  <a:pt x="0" y="0"/>
                </a:moveTo>
                <a:lnTo>
                  <a:pt x="1252935" y="0"/>
                </a:lnTo>
                <a:lnTo>
                  <a:pt x="1252935" y="1251820"/>
                </a:lnTo>
                <a:lnTo>
                  <a:pt x="0" y="1251820"/>
                </a:lnTo>
                <a:lnTo>
                  <a:pt x="0" y="0"/>
                </a:lnTo>
                <a:close/>
              </a:path>
            </a:pathLst>
          </a:custGeom>
          <a:blipFill>
            <a:blip r:embed="rId4"/>
            <a:stretch>
              <a:fillRect/>
            </a:stretch>
          </a:blipFill>
        </p:spPr>
      </p:sp>
      <p:sp>
        <p:nvSpPr>
          <p:cNvPr id="6" name="Freeform 6"/>
          <p:cNvSpPr/>
          <p:nvPr/>
        </p:nvSpPr>
        <p:spPr>
          <a:xfrm>
            <a:off x="3393611" y="2936802"/>
            <a:ext cx="11500777" cy="6144753"/>
          </a:xfrm>
          <a:custGeom>
            <a:avLst/>
            <a:gdLst/>
            <a:ahLst/>
            <a:cxnLst/>
            <a:rect l="l" t="t" r="r" b="b"/>
            <a:pathLst>
              <a:path w="11500777" h="6144753">
                <a:moveTo>
                  <a:pt x="0" y="0"/>
                </a:moveTo>
                <a:lnTo>
                  <a:pt x="11500778" y="0"/>
                </a:lnTo>
                <a:lnTo>
                  <a:pt x="11500778" y="6144753"/>
                </a:lnTo>
                <a:lnTo>
                  <a:pt x="0" y="6144753"/>
                </a:lnTo>
                <a:lnTo>
                  <a:pt x="0" y="0"/>
                </a:lnTo>
                <a:close/>
              </a:path>
            </a:pathLst>
          </a:custGeom>
          <a:blipFill>
            <a:blip r:embed="rId5"/>
            <a:stretch>
              <a:fillRect/>
            </a:stretch>
          </a:blipFill>
        </p:spPr>
      </p:sp>
      <p:sp>
        <p:nvSpPr>
          <p:cNvPr id="7" name="TextBox 7"/>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16</a:t>
            </a:r>
          </a:p>
        </p:txBody>
      </p:sp>
      <p:sp>
        <p:nvSpPr>
          <p:cNvPr id="8" name="TextBox 8"/>
          <p:cNvSpPr txBox="1"/>
          <p:nvPr/>
        </p:nvSpPr>
        <p:spPr>
          <a:xfrm>
            <a:off x="4064448" y="1276206"/>
            <a:ext cx="10717955" cy="1236345"/>
          </a:xfrm>
          <a:prstGeom prst="rect">
            <a:avLst/>
          </a:prstGeom>
        </p:spPr>
        <p:txBody>
          <a:bodyPr lIns="0" tIns="0" rIns="0" bIns="0" rtlCol="0" anchor="t">
            <a:spAutoFit/>
          </a:bodyPr>
          <a:lstStyle/>
          <a:p>
            <a:pPr algn="l">
              <a:lnSpc>
                <a:spcPts val="10080"/>
              </a:lnSpc>
              <a:spcBef>
                <a:spcPct val="0"/>
              </a:spcBef>
            </a:pPr>
            <a:r>
              <a:rPr lang="en-US" sz="7200" b="1" dirty="0">
                <a:solidFill>
                  <a:srgbClr val="000000"/>
                </a:solidFill>
                <a:latin typeface="Bricolage Grotesque Bold"/>
                <a:ea typeface="Bricolage Grotesque Bold"/>
                <a:cs typeface="Bricolage Grotesque Bold"/>
                <a:sym typeface="Bricolage Grotesque Bold"/>
              </a:rPr>
              <a:t>VISUALIZATION OUTPUT</a:t>
            </a:r>
          </a:p>
        </p:txBody>
      </p:sp>
      <p:sp>
        <p:nvSpPr>
          <p:cNvPr id="9" name="TextBox 9"/>
          <p:cNvSpPr txBox="1"/>
          <p:nvPr/>
        </p:nvSpPr>
        <p:spPr>
          <a:xfrm>
            <a:off x="3107979" y="9296629"/>
            <a:ext cx="12706350" cy="356235"/>
          </a:xfrm>
          <a:prstGeom prst="rect">
            <a:avLst/>
          </a:prstGeom>
        </p:spPr>
        <p:txBody>
          <a:bodyPr lIns="0" tIns="0" rIns="0" bIns="0" rtlCol="0" anchor="t">
            <a:spAutoFit/>
          </a:bodyPr>
          <a:lstStyle/>
          <a:p>
            <a:pPr algn="ctr">
              <a:lnSpc>
                <a:spcPts val="2940"/>
              </a:lnSpc>
              <a:spcBef>
                <a:spcPct val="0"/>
              </a:spcBef>
            </a:pPr>
            <a:r>
              <a:rPr lang="en-US" sz="2100" b="1">
                <a:solidFill>
                  <a:srgbClr val="000000"/>
                </a:solidFill>
                <a:latin typeface="Inter Medium"/>
                <a:ea typeface="Inter Medium"/>
                <a:cs typeface="Inter Medium"/>
                <a:sym typeface="Inter Medium"/>
              </a:rPr>
              <a:t>Insight: Hari senin memiliki revenue tertinggi dengan selisih yang signifikan dibandingkan hari lainnya.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Freeform 3"/>
          <p:cNvSpPr/>
          <p:nvPr/>
        </p:nvSpPr>
        <p:spPr>
          <a:xfrm flipH="1" flipV="1">
            <a:off x="16011550" y="5538064"/>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4" name="Freeform 4"/>
          <p:cNvSpPr/>
          <p:nvPr/>
        </p:nvSpPr>
        <p:spPr>
          <a:xfrm>
            <a:off x="-5470871" y="-2220421"/>
            <a:ext cx="8572500" cy="8229600"/>
          </a:xfrm>
          <a:custGeom>
            <a:avLst/>
            <a:gdLst/>
            <a:ahLst/>
            <a:cxnLst/>
            <a:rect l="l" t="t" r="r" b="b"/>
            <a:pathLst>
              <a:path w="8572500" h="8229600">
                <a:moveTo>
                  <a:pt x="0" y="0"/>
                </a:moveTo>
                <a:lnTo>
                  <a:pt x="8572500" y="0"/>
                </a:lnTo>
                <a:lnTo>
                  <a:pt x="8572500" y="8229600"/>
                </a:lnTo>
                <a:lnTo>
                  <a:pt x="0" y="8229600"/>
                </a:lnTo>
                <a:lnTo>
                  <a:pt x="0" y="0"/>
                </a:lnTo>
                <a:close/>
              </a:path>
            </a:pathLst>
          </a:custGeom>
          <a:blipFill>
            <a:blip r:embed="rId3"/>
            <a:stretch>
              <a:fillRect/>
            </a:stretch>
          </a:blipFill>
        </p:spPr>
      </p:sp>
      <p:sp>
        <p:nvSpPr>
          <p:cNvPr id="5" name="Freeform 5"/>
          <p:cNvSpPr/>
          <p:nvPr/>
        </p:nvSpPr>
        <p:spPr>
          <a:xfrm>
            <a:off x="15622414" y="5092767"/>
            <a:ext cx="1252934" cy="1251820"/>
          </a:xfrm>
          <a:custGeom>
            <a:avLst/>
            <a:gdLst/>
            <a:ahLst/>
            <a:cxnLst/>
            <a:rect l="l" t="t" r="r" b="b"/>
            <a:pathLst>
              <a:path w="1252934" h="1251820">
                <a:moveTo>
                  <a:pt x="0" y="0"/>
                </a:moveTo>
                <a:lnTo>
                  <a:pt x="1252935" y="0"/>
                </a:lnTo>
                <a:lnTo>
                  <a:pt x="1252935" y="1251820"/>
                </a:lnTo>
                <a:lnTo>
                  <a:pt x="0" y="1251820"/>
                </a:lnTo>
                <a:lnTo>
                  <a:pt x="0" y="0"/>
                </a:lnTo>
                <a:close/>
              </a:path>
            </a:pathLst>
          </a:custGeom>
          <a:blipFill>
            <a:blip r:embed="rId4"/>
            <a:stretch>
              <a:fillRect/>
            </a:stretch>
          </a:blipFill>
        </p:spPr>
      </p:sp>
      <p:sp>
        <p:nvSpPr>
          <p:cNvPr id="6" name="Freeform 6"/>
          <p:cNvSpPr/>
          <p:nvPr/>
        </p:nvSpPr>
        <p:spPr>
          <a:xfrm>
            <a:off x="2876658" y="2683700"/>
            <a:ext cx="12534683" cy="6550887"/>
          </a:xfrm>
          <a:custGeom>
            <a:avLst/>
            <a:gdLst/>
            <a:ahLst/>
            <a:cxnLst/>
            <a:rect l="l" t="t" r="r" b="b"/>
            <a:pathLst>
              <a:path w="12534683" h="6550887">
                <a:moveTo>
                  <a:pt x="0" y="0"/>
                </a:moveTo>
                <a:lnTo>
                  <a:pt x="12534684" y="0"/>
                </a:lnTo>
                <a:lnTo>
                  <a:pt x="12534684" y="6550887"/>
                </a:lnTo>
                <a:lnTo>
                  <a:pt x="0" y="6550887"/>
                </a:lnTo>
                <a:lnTo>
                  <a:pt x="0" y="0"/>
                </a:lnTo>
                <a:close/>
              </a:path>
            </a:pathLst>
          </a:custGeom>
          <a:blipFill>
            <a:blip r:embed="rId5"/>
            <a:stretch>
              <a:fillRect/>
            </a:stretch>
          </a:blipFill>
        </p:spPr>
      </p:sp>
      <p:sp>
        <p:nvSpPr>
          <p:cNvPr id="7" name="TextBox 7"/>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17</a:t>
            </a:r>
          </a:p>
        </p:txBody>
      </p:sp>
      <p:sp>
        <p:nvSpPr>
          <p:cNvPr id="8" name="TextBox 8"/>
          <p:cNvSpPr txBox="1"/>
          <p:nvPr/>
        </p:nvSpPr>
        <p:spPr>
          <a:xfrm>
            <a:off x="4113331" y="1390493"/>
            <a:ext cx="10717955" cy="1236345"/>
          </a:xfrm>
          <a:prstGeom prst="rect">
            <a:avLst/>
          </a:prstGeom>
        </p:spPr>
        <p:txBody>
          <a:bodyPr lIns="0" tIns="0" rIns="0" bIns="0" rtlCol="0" anchor="t">
            <a:spAutoFit/>
          </a:bodyPr>
          <a:lstStyle/>
          <a:p>
            <a:pPr algn="l">
              <a:lnSpc>
                <a:spcPts val="10080"/>
              </a:lnSpc>
              <a:spcBef>
                <a:spcPct val="0"/>
              </a:spcBef>
            </a:pPr>
            <a:r>
              <a:rPr lang="en-US" sz="7200" b="1" dirty="0">
                <a:solidFill>
                  <a:srgbClr val="000000"/>
                </a:solidFill>
                <a:latin typeface="Bricolage Grotesque Bold"/>
                <a:ea typeface="Bricolage Grotesque Bold"/>
                <a:cs typeface="Bricolage Grotesque Bold"/>
                <a:sym typeface="Bricolage Grotesque Bold"/>
              </a:rPr>
              <a:t>VISUALIZATION OUTPUT</a:t>
            </a:r>
          </a:p>
        </p:txBody>
      </p:sp>
      <p:sp>
        <p:nvSpPr>
          <p:cNvPr id="9" name="TextBox 9"/>
          <p:cNvSpPr txBox="1"/>
          <p:nvPr/>
        </p:nvSpPr>
        <p:spPr>
          <a:xfrm>
            <a:off x="1228394" y="9196487"/>
            <a:ext cx="16624992" cy="1037354"/>
          </a:xfrm>
          <a:prstGeom prst="rect">
            <a:avLst/>
          </a:prstGeom>
        </p:spPr>
        <p:txBody>
          <a:bodyPr lIns="0" tIns="0" rIns="0" bIns="0" rtlCol="0" anchor="t">
            <a:spAutoFit/>
          </a:bodyPr>
          <a:lstStyle/>
          <a:p>
            <a:pPr algn="ctr">
              <a:lnSpc>
                <a:spcPts val="2768"/>
              </a:lnSpc>
              <a:spcBef>
                <a:spcPct val="0"/>
              </a:spcBef>
            </a:pPr>
            <a:r>
              <a:rPr lang="en-US" sz="1977" b="1">
                <a:solidFill>
                  <a:srgbClr val="000000"/>
                </a:solidFill>
                <a:latin typeface="Inter Medium"/>
                <a:ea typeface="Inter Medium"/>
                <a:cs typeface="Inter Medium"/>
                <a:sym typeface="Inter Medium"/>
              </a:rPr>
              <a:t>Februari menjadi bulan dengan lonjakan penjualan tertinggi (peak performance) across-the-board, mencapai total revenue 10.831 dollar. Angka ini jauh melampaui rata-rata bulan lainnya yang berada di kisaran 6.800–7.300. Puncak pendapatan tertinggi pada bulan Februari dicapai oleh Salad (1.970), Sandwich (1.664), Smoothie (1.578), dan Juice (1.338).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Freeform 3"/>
          <p:cNvSpPr/>
          <p:nvPr/>
        </p:nvSpPr>
        <p:spPr>
          <a:xfrm flipH="1" flipV="1">
            <a:off x="16011550" y="5538064"/>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4" name="Freeform 4"/>
          <p:cNvSpPr/>
          <p:nvPr/>
        </p:nvSpPr>
        <p:spPr>
          <a:xfrm>
            <a:off x="-5470871" y="-2220421"/>
            <a:ext cx="8572500" cy="8229600"/>
          </a:xfrm>
          <a:custGeom>
            <a:avLst/>
            <a:gdLst/>
            <a:ahLst/>
            <a:cxnLst/>
            <a:rect l="l" t="t" r="r" b="b"/>
            <a:pathLst>
              <a:path w="8572500" h="8229600">
                <a:moveTo>
                  <a:pt x="0" y="0"/>
                </a:moveTo>
                <a:lnTo>
                  <a:pt x="8572500" y="0"/>
                </a:lnTo>
                <a:lnTo>
                  <a:pt x="8572500" y="8229600"/>
                </a:lnTo>
                <a:lnTo>
                  <a:pt x="0" y="8229600"/>
                </a:lnTo>
                <a:lnTo>
                  <a:pt x="0" y="0"/>
                </a:lnTo>
                <a:close/>
              </a:path>
            </a:pathLst>
          </a:custGeom>
          <a:blipFill>
            <a:blip r:embed="rId3"/>
            <a:stretch>
              <a:fillRect/>
            </a:stretch>
          </a:blipFill>
        </p:spPr>
      </p:sp>
      <p:sp>
        <p:nvSpPr>
          <p:cNvPr id="5" name="Freeform 5"/>
          <p:cNvSpPr/>
          <p:nvPr/>
        </p:nvSpPr>
        <p:spPr>
          <a:xfrm>
            <a:off x="15622414" y="5092767"/>
            <a:ext cx="1252934" cy="1251820"/>
          </a:xfrm>
          <a:custGeom>
            <a:avLst/>
            <a:gdLst/>
            <a:ahLst/>
            <a:cxnLst/>
            <a:rect l="l" t="t" r="r" b="b"/>
            <a:pathLst>
              <a:path w="1252934" h="1251820">
                <a:moveTo>
                  <a:pt x="0" y="0"/>
                </a:moveTo>
                <a:lnTo>
                  <a:pt x="1252935" y="0"/>
                </a:lnTo>
                <a:lnTo>
                  <a:pt x="1252935" y="1251820"/>
                </a:lnTo>
                <a:lnTo>
                  <a:pt x="0" y="1251820"/>
                </a:lnTo>
                <a:lnTo>
                  <a:pt x="0" y="0"/>
                </a:lnTo>
                <a:close/>
              </a:path>
            </a:pathLst>
          </a:custGeom>
          <a:blipFill>
            <a:blip r:embed="rId4"/>
            <a:stretch>
              <a:fillRect/>
            </a:stretch>
          </a:blipFill>
        </p:spPr>
      </p:sp>
      <p:sp>
        <p:nvSpPr>
          <p:cNvPr id="6" name="Freeform 6"/>
          <p:cNvSpPr/>
          <p:nvPr/>
        </p:nvSpPr>
        <p:spPr>
          <a:xfrm>
            <a:off x="2867660" y="2264521"/>
            <a:ext cx="12175765" cy="6993779"/>
          </a:xfrm>
          <a:custGeom>
            <a:avLst/>
            <a:gdLst/>
            <a:ahLst/>
            <a:cxnLst/>
            <a:rect l="l" t="t" r="r" b="b"/>
            <a:pathLst>
              <a:path w="12175765" h="6993779">
                <a:moveTo>
                  <a:pt x="0" y="0"/>
                </a:moveTo>
                <a:lnTo>
                  <a:pt x="12175764" y="0"/>
                </a:lnTo>
                <a:lnTo>
                  <a:pt x="12175764" y="6993779"/>
                </a:lnTo>
                <a:lnTo>
                  <a:pt x="0" y="6993779"/>
                </a:lnTo>
                <a:lnTo>
                  <a:pt x="0" y="0"/>
                </a:lnTo>
                <a:close/>
              </a:path>
            </a:pathLst>
          </a:custGeom>
          <a:blipFill>
            <a:blip r:embed="rId5"/>
            <a:stretch>
              <a:fillRect/>
            </a:stretch>
          </a:blipFill>
        </p:spPr>
      </p:sp>
      <p:sp>
        <p:nvSpPr>
          <p:cNvPr id="7" name="TextBox 7"/>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18</a:t>
            </a:r>
          </a:p>
        </p:txBody>
      </p:sp>
      <p:sp>
        <p:nvSpPr>
          <p:cNvPr id="8" name="TextBox 8"/>
          <p:cNvSpPr txBox="1"/>
          <p:nvPr/>
        </p:nvSpPr>
        <p:spPr>
          <a:xfrm>
            <a:off x="3785022" y="1028700"/>
            <a:ext cx="10717955" cy="1236345"/>
          </a:xfrm>
          <a:prstGeom prst="rect">
            <a:avLst/>
          </a:prstGeom>
        </p:spPr>
        <p:txBody>
          <a:bodyPr lIns="0" tIns="0" rIns="0" bIns="0" rtlCol="0" anchor="t">
            <a:spAutoFit/>
          </a:bodyPr>
          <a:lstStyle/>
          <a:p>
            <a:pPr algn="l">
              <a:lnSpc>
                <a:spcPts val="10080"/>
              </a:lnSpc>
              <a:spcBef>
                <a:spcPct val="0"/>
              </a:spcBef>
            </a:pPr>
            <a:r>
              <a:rPr lang="en-US" sz="7200" b="1" dirty="0">
                <a:solidFill>
                  <a:srgbClr val="000000"/>
                </a:solidFill>
                <a:latin typeface="Bricolage Grotesque Bold"/>
                <a:ea typeface="Bricolage Grotesque Bold"/>
                <a:cs typeface="Bricolage Grotesque Bold"/>
                <a:sym typeface="Bricolage Grotesque Bold"/>
              </a:rPr>
              <a:t>VISUALIZATION OUTPUT</a:t>
            </a:r>
          </a:p>
        </p:txBody>
      </p:sp>
      <p:sp>
        <p:nvSpPr>
          <p:cNvPr id="9" name="TextBox 9"/>
          <p:cNvSpPr txBox="1"/>
          <p:nvPr/>
        </p:nvSpPr>
        <p:spPr>
          <a:xfrm>
            <a:off x="211060" y="9290052"/>
            <a:ext cx="17865880" cy="687526"/>
          </a:xfrm>
          <a:prstGeom prst="rect">
            <a:avLst/>
          </a:prstGeom>
        </p:spPr>
        <p:txBody>
          <a:bodyPr lIns="0" tIns="0" rIns="0" bIns="0" rtlCol="0" anchor="t">
            <a:spAutoFit/>
          </a:bodyPr>
          <a:lstStyle/>
          <a:p>
            <a:pPr algn="ctr">
              <a:lnSpc>
                <a:spcPts val="2768"/>
              </a:lnSpc>
              <a:spcBef>
                <a:spcPct val="0"/>
              </a:spcBef>
            </a:pPr>
            <a:r>
              <a:rPr lang="en-US" sz="1977" b="1">
                <a:solidFill>
                  <a:srgbClr val="000000"/>
                </a:solidFill>
                <a:latin typeface="Inter Medium"/>
                <a:ea typeface="Inter Medium"/>
                <a:cs typeface="Inter Medium"/>
                <a:sym typeface="Inter Medium"/>
              </a:rPr>
              <a:t>Di luar data yang hilang, proporsi penggunaan Cash (22,58%), Credit Card (22,73%), dan Digital Wallet (22,91%) hampir sama persis. Tidak ada metode pembayaran yang dominan secara signifikan.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Freeform 3"/>
          <p:cNvSpPr/>
          <p:nvPr/>
        </p:nvSpPr>
        <p:spPr>
          <a:xfrm flipH="1" flipV="1">
            <a:off x="16011550" y="5538064"/>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4" name="Freeform 4"/>
          <p:cNvSpPr/>
          <p:nvPr/>
        </p:nvSpPr>
        <p:spPr>
          <a:xfrm>
            <a:off x="-5470871" y="-2220421"/>
            <a:ext cx="8572500" cy="8229600"/>
          </a:xfrm>
          <a:custGeom>
            <a:avLst/>
            <a:gdLst/>
            <a:ahLst/>
            <a:cxnLst/>
            <a:rect l="l" t="t" r="r" b="b"/>
            <a:pathLst>
              <a:path w="8572500" h="8229600">
                <a:moveTo>
                  <a:pt x="0" y="0"/>
                </a:moveTo>
                <a:lnTo>
                  <a:pt x="8572500" y="0"/>
                </a:lnTo>
                <a:lnTo>
                  <a:pt x="8572500" y="8229600"/>
                </a:lnTo>
                <a:lnTo>
                  <a:pt x="0" y="8229600"/>
                </a:lnTo>
                <a:lnTo>
                  <a:pt x="0" y="0"/>
                </a:lnTo>
                <a:close/>
              </a:path>
            </a:pathLst>
          </a:custGeom>
          <a:blipFill>
            <a:blip r:embed="rId3"/>
            <a:stretch>
              <a:fillRect/>
            </a:stretch>
          </a:blipFill>
        </p:spPr>
      </p:sp>
      <p:sp>
        <p:nvSpPr>
          <p:cNvPr id="5" name="Freeform 5"/>
          <p:cNvSpPr/>
          <p:nvPr/>
        </p:nvSpPr>
        <p:spPr>
          <a:xfrm>
            <a:off x="15622414" y="5092767"/>
            <a:ext cx="1252934" cy="1251820"/>
          </a:xfrm>
          <a:custGeom>
            <a:avLst/>
            <a:gdLst/>
            <a:ahLst/>
            <a:cxnLst/>
            <a:rect l="l" t="t" r="r" b="b"/>
            <a:pathLst>
              <a:path w="1252934" h="1251820">
                <a:moveTo>
                  <a:pt x="0" y="0"/>
                </a:moveTo>
                <a:lnTo>
                  <a:pt x="1252935" y="0"/>
                </a:lnTo>
                <a:lnTo>
                  <a:pt x="1252935" y="1251820"/>
                </a:lnTo>
                <a:lnTo>
                  <a:pt x="0" y="1251820"/>
                </a:lnTo>
                <a:lnTo>
                  <a:pt x="0" y="0"/>
                </a:lnTo>
                <a:close/>
              </a:path>
            </a:pathLst>
          </a:custGeom>
          <a:blipFill>
            <a:blip r:embed="rId4"/>
            <a:stretch>
              <a:fillRect/>
            </a:stretch>
          </a:blipFill>
        </p:spPr>
      </p:sp>
      <p:sp>
        <p:nvSpPr>
          <p:cNvPr id="6" name="Freeform 6"/>
          <p:cNvSpPr/>
          <p:nvPr/>
        </p:nvSpPr>
        <p:spPr>
          <a:xfrm>
            <a:off x="4968102" y="2419271"/>
            <a:ext cx="8787840" cy="6598811"/>
          </a:xfrm>
          <a:custGeom>
            <a:avLst/>
            <a:gdLst/>
            <a:ahLst/>
            <a:cxnLst/>
            <a:rect l="l" t="t" r="r" b="b"/>
            <a:pathLst>
              <a:path w="8787840" h="6598811">
                <a:moveTo>
                  <a:pt x="0" y="0"/>
                </a:moveTo>
                <a:lnTo>
                  <a:pt x="8787840" y="0"/>
                </a:lnTo>
                <a:lnTo>
                  <a:pt x="8787840" y="6598811"/>
                </a:lnTo>
                <a:lnTo>
                  <a:pt x="0" y="6598811"/>
                </a:lnTo>
                <a:lnTo>
                  <a:pt x="0" y="0"/>
                </a:lnTo>
                <a:close/>
              </a:path>
            </a:pathLst>
          </a:custGeom>
          <a:blipFill>
            <a:blip r:embed="rId5"/>
            <a:stretch>
              <a:fillRect/>
            </a:stretch>
          </a:blipFill>
        </p:spPr>
      </p:sp>
      <p:sp>
        <p:nvSpPr>
          <p:cNvPr id="7" name="TextBox 7"/>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19</a:t>
            </a:r>
          </a:p>
        </p:txBody>
      </p:sp>
      <p:sp>
        <p:nvSpPr>
          <p:cNvPr id="8" name="TextBox 8"/>
          <p:cNvSpPr txBox="1"/>
          <p:nvPr/>
        </p:nvSpPr>
        <p:spPr>
          <a:xfrm>
            <a:off x="4330393" y="1133853"/>
            <a:ext cx="10717955" cy="1236345"/>
          </a:xfrm>
          <a:prstGeom prst="rect">
            <a:avLst/>
          </a:prstGeom>
        </p:spPr>
        <p:txBody>
          <a:bodyPr lIns="0" tIns="0" rIns="0" bIns="0" rtlCol="0" anchor="t">
            <a:spAutoFit/>
          </a:bodyPr>
          <a:lstStyle/>
          <a:p>
            <a:pPr algn="l">
              <a:lnSpc>
                <a:spcPts val="10080"/>
              </a:lnSpc>
              <a:spcBef>
                <a:spcPct val="0"/>
              </a:spcBef>
            </a:pPr>
            <a:r>
              <a:rPr lang="en-US" sz="7200" b="1" dirty="0">
                <a:solidFill>
                  <a:srgbClr val="000000"/>
                </a:solidFill>
                <a:latin typeface="Bricolage Grotesque Bold"/>
                <a:ea typeface="Bricolage Grotesque Bold"/>
                <a:cs typeface="Bricolage Grotesque Bold"/>
                <a:sym typeface="Bricolage Grotesque Bold"/>
              </a:rPr>
              <a:t>VISUALIZATION OUTPUT</a:t>
            </a:r>
          </a:p>
        </p:txBody>
      </p:sp>
      <p:sp>
        <p:nvSpPr>
          <p:cNvPr id="9" name="TextBox 9"/>
          <p:cNvSpPr txBox="1"/>
          <p:nvPr/>
        </p:nvSpPr>
        <p:spPr>
          <a:xfrm>
            <a:off x="739498" y="9290052"/>
            <a:ext cx="17548502" cy="996948"/>
          </a:xfrm>
          <a:prstGeom prst="rect">
            <a:avLst/>
          </a:prstGeom>
        </p:spPr>
        <p:txBody>
          <a:bodyPr lIns="0" tIns="0" rIns="0" bIns="0" rtlCol="0" anchor="t">
            <a:spAutoFit/>
          </a:bodyPr>
          <a:lstStyle/>
          <a:p>
            <a:pPr algn="ctr">
              <a:lnSpc>
                <a:spcPts val="2656"/>
              </a:lnSpc>
              <a:spcBef>
                <a:spcPct val="0"/>
              </a:spcBef>
            </a:pPr>
            <a:r>
              <a:rPr lang="en-US" sz="1897" b="1">
                <a:solidFill>
                  <a:srgbClr val="000000"/>
                </a:solidFill>
                <a:latin typeface="Inter Medium"/>
                <a:ea typeface="Inter Medium"/>
                <a:cs typeface="Inter Medium"/>
                <a:sym typeface="Inter Medium"/>
              </a:rPr>
              <a:t>Mayoritas transaksi berada pada kategori Medium Spending, yang menunjukkan bahwa pelanggan cenderung melakukan pembelian dengan nilai transaksi sedang. Transaksi dengan kategori High Spending memiliki jumlah yang lebih sedikit sehingga perusahaan dapat mempertimbangkan strategi bundling atau promo untuk meningkatkan nilai transaksi pelanggan.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TextBox 3"/>
          <p:cNvSpPr txBox="1"/>
          <p:nvPr/>
        </p:nvSpPr>
        <p:spPr>
          <a:xfrm>
            <a:off x="1288321" y="1133853"/>
            <a:ext cx="2928082" cy="356235"/>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NORTHLINE GROUP</a:t>
            </a:r>
          </a:p>
        </p:txBody>
      </p:sp>
      <p:sp>
        <p:nvSpPr>
          <p:cNvPr id="4" name="TextBox 4"/>
          <p:cNvSpPr txBox="1"/>
          <p:nvPr/>
        </p:nvSpPr>
        <p:spPr>
          <a:xfrm>
            <a:off x="15832669" y="1133853"/>
            <a:ext cx="1426631" cy="356235"/>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20</a:t>
            </a:r>
          </a:p>
        </p:txBody>
      </p:sp>
      <p:sp>
        <p:nvSpPr>
          <p:cNvPr id="5" name="TextBox 5"/>
          <p:cNvSpPr txBox="1"/>
          <p:nvPr/>
        </p:nvSpPr>
        <p:spPr>
          <a:xfrm>
            <a:off x="1502810" y="1802829"/>
            <a:ext cx="9162544" cy="2512695"/>
          </a:xfrm>
          <a:prstGeom prst="rect">
            <a:avLst/>
          </a:prstGeom>
        </p:spPr>
        <p:txBody>
          <a:bodyPr lIns="0" tIns="0" rIns="0" bIns="0" rtlCol="0" anchor="t">
            <a:spAutoFit/>
          </a:bodyPr>
          <a:lstStyle/>
          <a:p>
            <a:pPr algn="l">
              <a:lnSpc>
                <a:spcPts val="10080"/>
              </a:lnSpc>
              <a:spcBef>
                <a:spcPct val="0"/>
              </a:spcBef>
            </a:pPr>
            <a:r>
              <a:rPr lang="en-US" sz="7200" b="1">
                <a:solidFill>
                  <a:srgbClr val="000000"/>
                </a:solidFill>
                <a:latin typeface="Bricolage Grotesque Bold"/>
                <a:ea typeface="Bricolage Grotesque Bold"/>
                <a:cs typeface="Bricolage Grotesque Bold"/>
                <a:sym typeface="Bricolage Grotesque Bold"/>
              </a:rPr>
              <a:t>CONCLUSION &amp; RECOMMENDATION</a:t>
            </a:r>
          </a:p>
        </p:txBody>
      </p:sp>
      <p:sp>
        <p:nvSpPr>
          <p:cNvPr id="6" name="TextBox 6"/>
          <p:cNvSpPr txBox="1"/>
          <p:nvPr/>
        </p:nvSpPr>
        <p:spPr>
          <a:xfrm>
            <a:off x="1502810" y="4725099"/>
            <a:ext cx="15666217" cy="11190605"/>
          </a:xfrm>
          <a:prstGeom prst="rect">
            <a:avLst/>
          </a:prstGeom>
        </p:spPr>
        <p:txBody>
          <a:bodyPr lIns="0" tIns="0" rIns="0" bIns="0" rtlCol="0" anchor="t">
            <a:spAutoFit/>
          </a:bodyPr>
          <a:lstStyle/>
          <a:p>
            <a:pPr algn="l">
              <a:lnSpc>
                <a:spcPts val="3219"/>
              </a:lnSpc>
              <a:spcBef>
                <a:spcPct val="0"/>
              </a:spcBef>
            </a:pPr>
            <a:r>
              <a:rPr lang="en-US" sz="2299">
                <a:solidFill>
                  <a:srgbClr val="000000"/>
                </a:solidFill>
                <a:latin typeface="Bricolage Grotesque"/>
                <a:ea typeface="Bricolage Grotesque"/>
                <a:cs typeface="Bricolage Grotesque"/>
                <a:sym typeface="Bricolage Grotesque"/>
              </a:rPr>
              <a:t>Kesimpulan:</a:t>
            </a:r>
          </a:p>
          <a:p>
            <a:pPr marL="496567" lvl="1" indent="-248284" algn="l">
              <a:lnSpc>
                <a:spcPts val="3219"/>
              </a:lnSpc>
              <a:spcBef>
                <a:spcPct val="0"/>
              </a:spcBef>
              <a:buFont typeface="Arial"/>
              <a:buChar char="•"/>
            </a:pPr>
            <a:r>
              <a:rPr lang="en-US" sz="2299">
                <a:solidFill>
                  <a:srgbClr val="000000"/>
                </a:solidFill>
                <a:latin typeface="Bricolage Grotesque"/>
                <a:ea typeface="Bricolage Grotesque"/>
                <a:cs typeface="Bricolage Grotesque"/>
                <a:sym typeface="Bricolage Grotesque"/>
              </a:rPr>
              <a:t>Juice memiliki jumlah penjualan tertinggi.</a:t>
            </a:r>
          </a:p>
          <a:p>
            <a:pPr marL="496567" lvl="1" indent="-248284" algn="l">
              <a:lnSpc>
                <a:spcPts val="3219"/>
              </a:lnSpc>
              <a:spcBef>
                <a:spcPct val="0"/>
              </a:spcBef>
              <a:buFont typeface="Arial"/>
              <a:buChar char="•"/>
            </a:pPr>
            <a:r>
              <a:rPr lang="en-US" sz="2299">
                <a:solidFill>
                  <a:srgbClr val="000000"/>
                </a:solidFill>
                <a:latin typeface="Bricolage Grotesque"/>
                <a:ea typeface="Bricolage Grotesque"/>
                <a:cs typeface="Bricolage Grotesque"/>
                <a:sym typeface="Bricolage Grotesque"/>
              </a:rPr>
              <a:t>Salad menghasilkan revenue terbesar.</a:t>
            </a:r>
          </a:p>
          <a:p>
            <a:pPr marL="496567" lvl="1" indent="-248284" algn="l">
              <a:lnSpc>
                <a:spcPts val="3219"/>
              </a:lnSpc>
              <a:spcBef>
                <a:spcPct val="0"/>
              </a:spcBef>
              <a:buFont typeface="Arial"/>
              <a:buChar char="•"/>
            </a:pPr>
            <a:r>
              <a:rPr lang="en-US" sz="2299">
                <a:solidFill>
                  <a:srgbClr val="000000"/>
                </a:solidFill>
                <a:latin typeface="Bricolage Grotesque"/>
                <a:ea typeface="Bricolage Grotesque"/>
                <a:cs typeface="Bricolage Grotesque"/>
                <a:sym typeface="Bricolage Grotesque"/>
              </a:rPr>
              <a:t>Februari memiliki revenue tertinggi.</a:t>
            </a:r>
          </a:p>
          <a:p>
            <a:pPr marL="496567" lvl="1" indent="-248284" algn="l">
              <a:lnSpc>
                <a:spcPts val="3219"/>
              </a:lnSpc>
              <a:spcBef>
                <a:spcPct val="0"/>
              </a:spcBef>
              <a:buFont typeface="Arial"/>
              <a:buChar char="•"/>
            </a:pPr>
            <a:r>
              <a:rPr lang="en-US" sz="2299">
                <a:solidFill>
                  <a:srgbClr val="000000"/>
                </a:solidFill>
                <a:latin typeface="Bricolage Grotesque"/>
                <a:ea typeface="Bricolage Grotesque"/>
                <a:cs typeface="Bricolage Grotesque"/>
                <a:sym typeface="Bricolage Grotesque"/>
              </a:rPr>
              <a:t>Senin mencatat total penjualan tertinggi.</a:t>
            </a:r>
          </a:p>
          <a:p>
            <a:pPr marL="496567" lvl="1" indent="-248284" algn="l">
              <a:lnSpc>
                <a:spcPts val="3219"/>
              </a:lnSpc>
              <a:spcBef>
                <a:spcPct val="0"/>
              </a:spcBef>
              <a:buFont typeface="Arial"/>
              <a:buChar char="•"/>
            </a:pPr>
            <a:r>
              <a:rPr lang="en-US" sz="2299">
                <a:solidFill>
                  <a:srgbClr val="000000"/>
                </a:solidFill>
                <a:latin typeface="Bricolage Grotesque"/>
                <a:ea typeface="Bricolage Grotesque"/>
                <a:cs typeface="Bricolage Grotesque"/>
                <a:sym typeface="Bricolage Grotesque"/>
              </a:rPr>
              <a:t>Masih terdapat missing values pada Payment Method dan Location.</a:t>
            </a:r>
          </a:p>
          <a:p>
            <a:pPr algn="l">
              <a:lnSpc>
                <a:spcPts val="3219"/>
              </a:lnSpc>
              <a:spcBef>
                <a:spcPct val="0"/>
              </a:spcBef>
            </a:pPr>
            <a:r>
              <a:rPr lang="en-US" sz="2299">
                <a:solidFill>
                  <a:srgbClr val="000000"/>
                </a:solidFill>
                <a:latin typeface="Bricolage Grotesque"/>
                <a:ea typeface="Bricolage Grotesque"/>
                <a:cs typeface="Bricolage Grotesque"/>
                <a:sym typeface="Bricolage Grotesque"/>
              </a:rPr>
              <a:t>Rekomendasi:</a:t>
            </a:r>
          </a:p>
          <a:p>
            <a:pPr marL="496567" lvl="1" indent="-248284" algn="l">
              <a:lnSpc>
                <a:spcPts val="3219"/>
              </a:lnSpc>
              <a:spcBef>
                <a:spcPct val="0"/>
              </a:spcBef>
              <a:buFont typeface="Arial"/>
              <a:buChar char="•"/>
            </a:pPr>
            <a:r>
              <a:rPr lang="en-US" sz="2299">
                <a:solidFill>
                  <a:srgbClr val="000000"/>
                </a:solidFill>
                <a:latin typeface="Bricolage Grotesque"/>
                <a:ea typeface="Bricolage Grotesque"/>
                <a:cs typeface="Bricolage Grotesque"/>
                <a:sym typeface="Bricolage Grotesque"/>
              </a:rPr>
              <a:t>Prioritaskan stok Juice karena permintaannya tinggi.</a:t>
            </a:r>
          </a:p>
          <a:p>
            <a:pPr marL="496567" lvl="1" indent="-248284" algn="l">
              <a:lnSpc>
                <a:spcPts val="3219"/>
              </a:lnSpc>
              <a:spcBef>
                <a:spcPct val="0"/>
              </a:spcBef>
              <a:buFont typeface="Arial"/>
              <a:buChar char="•"/>
            </a:pPr>
            <a:r>
              <a:rPr lang="en-US" sz="2299">
                <a:solidFill>
                  <a:srgbClr val="000000"/>
                </a:solidFill>
                <a:latin typeface="Bricolage Grotesque"/>
                <a:ea typeface="Bricolage Grotesque"/>
                <a:cs typeface="Bricolage Grotesque"/>
                <a:sym typeface="Bricolage Grotesque"/>
              </a:rPr>
              <a:t>Pertahankan ketersediaan dan kualitas Salad karena kontribusi revenue-nya besar.</a:t>
            </a:r>
          </a:p>
          <a:p>
            <a:pPr marL="496567" lvl="1" indent="-248284" algn="l">
              <a:lnSpc>
                <a:spcPts val="3219"/>
              </a:lnSpc>
              <a:spcBef>
                <a:spcPct val="0"/>
              </a:spcBef>
              <a:buFont typeface="Arial"/>
              <a:buChar char="•"/>
            </a:pPr>
            <a:r>
              <a:rPr lang="en-US" sz="2299">
                <a:solidFill>
                  <a:srgbClr val="000000"/>
                </a:solidFill>
                <a:latin typeface="Bricolage Grotesque"/>
                <a:ea typeface="Bricolage Grotesque"/>
                <a:cs typeface="Bricolage Grotesque"/>
                <a:sym typeface="Bricolage Grotesque"/>
              </a:rPr>
              <a:t>Evaluasi faktor yang menyebabkan penjualan Februari tinggi untuk diterapkan pada periode lain.</a:t>
            </a:r>
          </a:p>
          <a:p>
            <a:pPr marL="496567" lvl="1" indent="-248284" algn="l">
              <a:lnSpc>
                <a:spcPts val="3219"/>
              </a:lnSpc>
              <a:spcBef>
                <a:spcPct val="0"/>
              </a:spcBef>
              <a:buFont typeface="Arial"/>
              <a:buChar char="•"/>
            </a:pPr>
            <a:r>
              <a:rPr lang="en-US" sz="2299">
                <a:solidFill>
                  <a:srgbClr val="000000"/>
                </a:solidFill>
                <a:latin typeface="Bricolage Grotesque"/>
                <a:ea typeface="Bricolage Grotesque"/>
                <a:cs typeface="Bricolage Grotesque"/>
                <a:sym typeface="Bricolage Grotesque"/>
              </a:rPr>
              <a:t>Optimalkan promosi dan persediaan pada hari Senin.</a:t>
            </a:r>
          </a:p>
          <a:p>
            <a:pPr marL="496567" lvl="1" indent="-248284" algn="l">
              <a:lnSpc>
                <a:spcPts val="3219"/>
              </a:lnSpc>
              <a:spcBef>
                <a:spcPct val="0"/>
              </a:spcBef>
              <a:buFont typeface="Arial"/>
              <a:buChar char="•"/>
            </a:pPr>
            <a:r>
              <a:rPr lang="en-US" sz="2299">
                <a:solidFill>
                  <a:srgbClr val="000000"/>
                </a:solidFill>
                <a:latin typeface="Bricolage Grotesque"/>
                <a:ea typeface="Bricolage Grotesque"/>
                <a:cs typeface="Bricolage Grotesque"/>
                <a:sym typeface="Bricolage Grotesque"/>
              </a:rPr>
              <a:t>Perbaiki pencatatan Payment Method dan Location.</a:t>
            </a:r>
          </a:p>
          <a:p>
            <a:pPr algn="l">
              <a:lnSpc>
                <a:spcPts val="3219"/>
              </a:lnSpc>
              <a:spcBef>
                <a:spcPct val="0"/>
              </a:spcBef>
            </a:pPr>
            <a:endParaRPr lang="en-US" sz="2299">
              <a:solidFill>
                <a:srgbClr val="000000"/>
              </a:solidFill>
              <a:latin typeface="Bricolage Grotesque"/>
              <a:ea typeface="Bricolage Grotesque"/>
              <a:cs typeface="Bricolage Grotesque"/>
              <a:sym typeface="Bricolage Grotesque"/>
            </a:endParaRPr>
          </a:p>
          <a:p>
            <a:pPr algn="l">
              <a:lnSpc>
                <a:spcPts val="3219"/>
              </a:lnSpc>
              <a:spcBef>
                <a:spcPct val="0"/>
              </a:spcBef>
            </a:pPr>
            <a:endParaRPr lang="en-US" sz="2299">
              <a:solidFill>
                <a:srgbClr val="000000"/>
              </a:solidFill>
              <a:latin typeface="Bricolage Grotesque"/>
              <a:ea typeface="Bricolage Grotesque"/>
              <a:cs typeface="Bricolage Grotesque"/>
              <a:sym typeface="Bricolage Grotesque"/>
            </a:endParaRPr>
          </a:p>
          <a:p>
            <a:pPr algn="l">
              <a:lnSpc>
                <a:spcPts val="3219"/>
              </a:lnSpc>
              <a:spcBef>
                <a:spcPct val="0"/>
              </a:spcBef>
            </a:pPr>
            <a:endParaRPr lang="en-US" sz="2299">
              <a:solidFill>
                <a:srgbClr val="000000"/>
              </a:solidFill>
              <a:latin typeface="Bricolage Grotesque"/>
              <a:ea typeface="Bricolage Grotesque"/>
              <a:cs typeface="Bricolage Grotesque"/>
              <a:sym typeface="Bricolage Grotesque"/>
            </a:endParaRPr>
          </a:p>
          <a:p>
            <a:pPr algn="l">
              <a:lnSpc>
                <a:spcPts val="3219"/>
              </a:lnSpc>
              <a:spcBef>
                <a:spcPct val="0"/>
              </a:spcBef>
            </a:pPr>
            <a:endParaRPr lang="en-US" sz="2299">
              <a:solidFill>
                <a:srgbClr val="000000"/>
              </a:solidFill>
              <a:latin typeface="Bricolage Grotesque"/>
              <a:ea typeface="Bricolage Grotesque"/>
              <a:cs typeface="Bricolage Grotesque"/>
              <a:sym typeface="Bricolage Grotesque"/>
            </a:endParaRPr>
          </a:p>
          <a:p>
            <a:pPr algn="l">
              <a:lnSpc>
                <a:spcPts val="3219"/>
              </a:lnSpc>
              <a:spcBef>
                <a:spcPct val="0"/>
              </a:spcBef>
            </a:pPr>
            <a:endParaRPr lang="en-US" sz="2299">
              <a:solidFill>
                <a:srgbClr val="000000"/>
              </a:solidFill>
              <a:latin typeface="Bricolage Grotesque"/>
              <a:ea typeface="Bricolage Grotesque"/>
              <a:cs typeface="Bricolage Grotesque"/>
              <a:sym typeface="Bricolage Grotesque"/>
            </a:endParaRPr>
          </a:p>
          <a:p>
            <a:pPr algn="l">
              <a:lnSpc>
                <a:spcPts val="3219"/>
              </a:lnSpc>
              <a:spcBef>
                <a:spcPct val="0"/>
              </a:spcBef>
            </a:pPr>
            <a:endParaRPr lang="en-US" sz="2299">
              <a:solidFill>
                <a:srgbClr val="000000"/>
              </a:solidFill>
              <a:latin typeface="Bricolage Grotesque"/>
              <a:ea typeface="Bricolage Grotesque"/>
              <a:cs typeface="Bricolage Grotesque"/>
              <a:sym typeface="Bricolage Grotesque"/>
            </a:endParaRPr>
          </a:p>
          <a:p>
            <a:pPr algn="l">
              <a:lnSpc>
                <a:spcPts val="3219"/>
              </a:lnSpc>
              <a:spcBef>
                <a:spcPct val="0"/>
              </a:spcBef>
            </a:pPr>
            <a:endParaRPr lang="en-US" sz="2299">
              <a:solidFill>
                <a:srgbClr val="000000"/>
              </a:solidFill>
              <a:latin typeface="Bricolage Grotesque"/>
              <a:ea typeface="Bricolage Grotesque"/>
              <a:cs typeface="Bricolage Grotesque"/>
              <a:sym typeface="Bricolage Grotesque"/>
            </a:endParaRPr>
          </a:p>
          <a:p>
            <a:pPr algn="l">
              <a:lnSpc>
                <a:spcPts val="3219"/>
              </a:lnSpc>
              <a:spcBef>
                <a:spcPct val="0"/>
              </a:spcBef>
            </a:pPr>
            <a:endParaRPr lang="en-US" sz="2299">
              <a:solidFill>
                <a:srgbClr val="000000"/>
              </a:solidFill>
              <a:latin typeface="Bricolage Grotesque"/>
              <a:ea typeface="Bricolage Grotesque"/>
              <a:cs typeface="Bricolage Grotesque"/>
              <a:sym typeface="Bricolage Grotesque"/>
            </a:endParaRPr>
          </a:p>
          <a:p>
            <a:pPr algn="l">
              <a:lnSpc>
                <a:spcPts val="3219"/>
              </a:lnSpc>
              <a:spcBef>
                <a:spcPct val="0"/>
              </a:spcBef>
            </a:pPr>
            <a:endParaRPr lang="en-US" sz="2299">
              <a:solidFill>
                <a:srgbClr val="000000"/>
              </a:solidFill>
              <a:latin typeface="Bricolage Grotesque"/>
              <a:ea typeface="Bricolage Grotesque"/>
              <a:cs typeface="Bricolage Grotesque"/>
              <a:sym typeface="Bricolage Grotesque"/>
            </a:endParaRPr>
          </a:p>
          <a:p>
            <a:pPr algn="l">
              <a:lnSpc>
                <a:spcPts val="3219"/>
              </a:lnSpc>
              <a:spcBef>
                <a:spcPct val="0"/>
              </a:spcBef>
            </a:pPr>
            <a:endParaRPr lang="en-US" sz="2299">
              <a:solidFill>
                <a:srgbClr val="000000"/>
              </a:solidFill>
              <a:latin typeface="Bricolage Grotesque"/>
              <a:ea typeface="Bricolage Grotesque"/>
              <a:cs typeface="Bricolage Grotesque"/>
              <a:sym typeface="Bricolage Grotesque"/>
            </a:endParaRPr>
          </a:p>
          <a:p>
            <a:pPr algn="l">
              <a:lnSpc>
                <a:spcPts val="3219"/>
              </a:lnSpc>
              <a:spcBef>
                <a:spcPct val="0"/>
              </a:spcBef>
            </a:pPr>
            <a:endParaRPr lang="en-US" sz="2299">
              <a:solidFill>
                <a:srgbClr val="000000"/>
              </a:solidFill>
              <a:latin typeface="Bricolage Grotesque"/>
              <a:ea typeface="Bricolage Grotesque"/>
              <a:cs typeface="Bricolage Grotesque"/>
              <a:sym typeface="Bricolage Grotesque"/>
            </a:endParaRPr>
          </a:p>
          <a:p>
            <a:pPr algn="l">
              <a:lnSpc>
                <a:spcPts val="3219"/>
              </a:lnSpc>
              <a:spcBef>
                <a:spcPct val="0"/>
              </a:spcBef>
            </a:pPr>
            <a:endParaRPr lang="en-US" sz="2299">
              <a:solidFill>
                <a:srgbClr val="000000"/>
              </a:solidFill>
              <a:latin typeface="Bricolage Grotesque"/>
              <a:ea typeface="Bricolage Grotesque"/>
              <a:cs typeface="Bricolage Grotesque"/>
              <a:sym typeface="Bricolage Grotesque"/>
            </a:endParaRPr>
          </a:p>
          <a:p>
            <a:pPr algn="l">
              <a:lnSpc>
                <a:spcPts val="3219"/>
              </a:lnSpc>
              <a:spcBef>
                <a:spcPct val="0"/>
              </a:spcBef>
            </a:pPr>
            <a:endParaRPr lang="en-US" sz="2299">
              <a:solidFill>
                <a:srgbClr val="000000"/>
              </a:solidFill>
              <a:latin typeface="Bricolage Grotesque"/>
              <a:ea typeface="Bricolage Grotesque"/>
              <a:cs typeface="Bricolage Grotesque"/>
              <a:sym typeface="Bricolage Grotesque"/>
            </a:endParaRPr>
          </a:p>
          <a:p>
            <a:pPr algn="l">
              <a:lnSpc>
                <a:spcPts val="3219"/>
              </a:lnSpc>
              <a:spcBef>
                <a:spcPct val="0"/>
              </a:spcBef>
            </a:pPr>
            <a:endParaRPr lang="en-US" sz="2299">
              <a:solidFill>
                <a:srgbClr val="000000"/>
              </a:solidFill>
              <a:latin typeface="Bricolage Grotesque"/>
              <a:ea typeface="Bricolage Grotesque"/>
              <a:cs typeface="Bricolage Grotesque"/>
              <a:sym typeface="Bricolage Grotesque"/>
            </a:endParaRPr>
          </a:p>
          <a:p>
            <a:pPr algn="l">
              <a:lnSpc>
                <a:spcPts val="3219"/>
              </a:lnSpc>
              <a:spcBef>
                <a:spcPct val="0"/>
              </a:spcBef>
            </a:pPr>
            <a:endParaRPr lang="en-US" sz="2299">
              <a:solidFill>
                <a:srgbClr val="000000"/>
              </a:solidFill>
              <a:latin typeface="Bricolage Grotesque"/>
              <a:ea typeface="Bricolage Grotesque"/>
              <a:cs typeface="Bricolage Grotesque"/>
              <a:sym typeface="Bricolage Grotesque"/>
            </a:endParaRPr>
          </a:p>
          <a:p>
            <a:pPr algn="l">
              <a:lnSpc>
                <a:spcPts val="3219"/>
              </a:lnSpc>
              <a:spcBef>
                <a:spcPct val="0"/>
              </a:spcBef>
            </a:pPr>
            <a:endParaRPr lang="en-US" sz="2299">
              <a:solidFill>
                <a:srgbClr val="000000"/>
              </a:solidFill>
              <a:latin typeface="Bricolage Grotesque"/>
              <a:ea typeface="Bricolage Grotesque"/>
              <a:cs typeface="Bricolage Grotesque"/>
              <a:sym typeface="Bricolage Grotesque"/>
            </a:endParaRPr>
          </a:p>
        </p:txBody>
      </p:sp>
      <p:sp>
        <p:nvSpPr>
          <p:cNvPr id="7" name="Freeform 7"/>
          <p:cNvSpPr/>
          <p:nvPr/>
        </p:nvSpPr>
        <p:spPr>
          <a:xfrm>
            <a:off x="11133427" y="8827595"/>
            <a:ext cx="1252934" cy="1251820"/>
          </a:xfrm>
          <a:custGeom>
            <a:avLst/>
            <a:gdLst/>
            <a:ahLst/>
            <a:cxnLst/>
            <a:rect l="l" t="t" r="r" b="b"/>
            <a:pathLst>
              <a:path w="1252934" h="1251820">
                <a:moveTo>
                  <a:pt x="0" y="0"/>
                </a:moveTo>
                <a:lnTo>
                  <a:pt x="1252934" y="0"/>
                </a:lnTo>
                <a:lnTo>
                  <a:pt x="1252934" y="1251819"/>
                </a:lnTo>
                <a:lnTo>
                  <a:pt x="0" y="1251819"/>
                </a:lnTo>
                <a:lnTo>
                  <a:pt x="0" y="0"/>
                </a:lnTo>
                <a:close/>
              </a:path>
            </a:pathLst>
          </a:custGeom>
          <a:blipFill>
            <a:blip r:embed="rId3"/>
            <a:stretch>
              <a:fillRect/>
            </a:stretch>
          </a:blipFill>
        </p:spPr>
      </p:sp>
      <p:sp>
        <p:nvSpPr>
          <p:cNvPr id="8" name="Freeform 8"/>
          <p:cNvSpPr/>
          <p:nvPr/>
        </p:nvSpPr>
        <p:spPr>
          <a:xfrm flipH="1" flipV="1">
            <a:off x="1502810" y="-6739512"/>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4"/>
            <a:stretch>
              <a:fillRect/>
            </a:stretch>
          </a:blipFill>
        </p:spPr>
      </p:sp>
      <p:sp>
        <p:nvSpPr>
          <p:cNvPr id="9" name="Freeform 9"/>
          <p:cNvSpPr/>
          <p:nvPr/>
        </p:nvSpPr>
        <p:spPr>
          <a:xfrm>
            <a:off x="13559038" y="7593434"/>
            <a:ext cx="8572500" cy="8229600"/>
          </a:xfrm>
          <a:custGeom>
            <a:avLst/>
            <a:gdLst/>
            <a:ahLst/>
            <a:cxnLst/>
            <a:rect l="l" t="t" r="r" b="b"/>
            <a:pathLst>
              <a:path w="8572500" h="8229600">
                <a:moveTo>
                  <a:pt x="0" y="0"/>
                </a:moveTo>
                <a:lnTo>
                  <a:pt x="8572500" y="0"/>
                </a:lnTo>
                <a:lnTo>
                  <a:pt x="8572500" y="8229600"/>
                </a:lnTo>
                <a:lnTo>
                  <a:pt x="0" y="8229600"/>
                </a:lnTo>
                <a:lnTo>
                  <a:pt x="0" y="0"/>
                </a:lnTo>
                <a:close/>
              </a:path>
            </a:pathLst>
          </a:custGeom>
          <a:blipFill>
            <a:blip r:embed="rId4"/>
            <a:stretch>
              <a:fillRect/>
            </a:stretch>
          </a:blipFill>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Freeform 3"/>
          <p:cNvSpPr/>
          <p:nvPr/>
        </p:nvSpPr>
        <p:spPr>
          <a:xfrm rot="8718515" flipH="1" flipV="1">
            <a:off x="-5254274" y="3198144"/>
            <a:ext cx="8572500" cy="8229600"/>
          </a:xfrm>
          <a:custGeom>
            <a:avLst/>
            <a:gdLst/>
            <a:ahLst/>
            <a:cxnLst/>
            <a:rect l="l" t="t" r="r" b="b"/>
            <a:pathLst>
              <a:path w="8572500" h="8229600">
                <a:moveTo>
                  <a:pt x="8572500" y="8229600"/>
                </a:moveTo>
                <a:lnTo>
                  <a:pt x="0" y="8229600"/>
                </a:lnTo>
                <a:lnTo>
                  <a:pt x="0" y="0"/>
                </a:lnTo>
                <a:lnTo>
                  <a:pt x="8572500" y="0"/>
                </a:lnTo>
                <a:lnTo>
                  <a:pt x="8572500" y="8229600"/>
                </a:lnTo>
                <a:close/>
              </a:path>
            </a:pathLst>
          </a:custGeom>
          <a:blipFill>
            <a:blip r:embed="rId3"/>
            <a:stretch>
              <a:fillRect/>
            </a:stretch>
          </a:blipFill>
        </p:spPr>
      </p:sp>
      <p:sp>
        <p:nvSpPr>
          <p:cNvPr id="4" name="Freeform 4"/>
          <p:cNvSpPr/>
          <p:nvPr/>
        </p:nvSpPr>
        <p:spPr>
          <a:xfrm rot="4014076">
            <a:off x="16890349" y="1028700"/>
            <a:ext cx="8572500" cy="8229600"/>
          </a:xfrm>
          <a:custGeom>
            <a:avLst/>
            <a:gdLst/>
            <a:ahLst/>
            <a:cxnLst/>
            <a:rect l="l" t="t" r="r" b="b"/>
            <a:pathLst>
              <a:path w="8572500" h="8229600">
                <a:moveTo>
                  <a:pt x="0" y="0"/>
                </a:moveTo>
                <a:lnTo>
                  <a:pt x="8572500" y="0"/>
                </a:lnTo>
                <a:lnTo>
                  <a:pt x="8572500" y="8229600"/>
                </a:lnTo>
                <a:lnTo>
                  <a:pt x="0" y="8229600"/>
                </a:lnTo>
                <a:lnTo>
                  <a:pt x="0" y="0"/>
                </a:lnTo>
                <a:close/>
              </a:path>
            </a:pathLst>
          </a:custGeom>
          <a:blipFill>
            <a:blip r:embed="rId3"/>
            <a:stretch>
              <a:fillRect/>
            </a:stretch>
          </a:blipFill>
        </p:spPr>
      </p:sp>
      <p:sp>
        <p:nvSpPr>
          <p:cNvPr id="5" name="TextBox 5"/>
          <p:cNvSpPr txBox="1"/>
          <p:nvPr/>
        </p:nvSpPr>
        <p:spPr>
          <a:xfrm>
            <a:off x="4216404" y="4265211"/>
            <a:ext cx="10326029" cy="2417735"/>
          </a:xfrm>
          <a:prstGeom prst="rect">
            <a:avLst/>
          </a:prstGeom>
        </p:spPr>
        <p:txBody>
          <a:bodyPr lIns="0" tIns="0" rIns="0" bIns="0" rtlCol="0" anchor="t">
            <a:spAutoFit/>
          </a:bodyPr>
          <a:lstStyle/>
          <a:p>
            <a:pPr algn="l">
              <a:lnSpc>
                <a:spcPts val="19799"/>
              </a:lnSpc>
              <a:spcBef>
                <a:spcPct val="0"/>
              </a:spcBef>
            </a:pPr>
            <a:r>
              <a:rPr lang="en-US" sz="14142" b="1">
                <a:solidFill>
                  <a:srgbClr val="000000"/>
                </a:solidFill>
                <a:latin typeface="Bricolage Grotesque Bold"/>
                <a:ea typeface="Bricolage Grotesque Bold"/>
                <a:cs typeface="Bricolage Grotesque Bold"/>
                <a:sym typeface="Bricolage Grotesque Bold"/>
              </a:rPr>
              <a:t>THANK YOU</a:t>
            </a:r>
          </a:p>
        </p:txBody>
      </p:sp>
      <p:sp>
        <p:nvSpPr>
          <p:cNvPr id="6" name="Freeform 6"/>
          <p:cNvSpPr/>
          <p:nvPr/>
        </p:nvSpPr>
        <p:spPr>
          <a:xfrm>
            <a:off x="13915966" y="3906001"/>
            <a:ext cx="1252934" cy="1251820"/>
          </a:xfrm>
          <a:custGeom>
            <a:avLst/>
            <a:gdLst/>
            <a:ahLst/>
            <a:cxnLst/>
            <a:rect l="l" t="t" r="r" b="b"/>
            <a:pathLst>
              <a:path w="1252934" h="1251820">
                <a:moveTo>
                  <a:pt x="0" y="0"/>
                </a:moveTo>
                <a:lnTo>
                  <a:pt x="1252934" y="0"/>
                </a:lnTo>
                <a:lnTo>
                  <a:pt x="1252934" y="1251820"/>
                </a:lnTo>
                <a:lnTo>
                  <a:pt x="0" y="1251820"/>
                </a:lnTo>
                <a:lnTo>
                  <a:pt x="0" y="0"/>
                </a:lnTo>
                <a:close/>
              </a:path>
            </a:pathLst>
          </a:custGeom>
          <a:blipFill>
            <a:blip r:embed="rId4"/>
            <a:stretch>
              <a:fillRect/>
            </a:stretch>
          </a:blipFill>
        </p:spPr>
      </p:sp>
      <p:sp>
        <p:nvSpPr>
          <p:cNvPr id="7" name="Freeform 7"/>
          <p:cNvSpPr/>
          <p:nvPr/>
        </p:nvSpPr>
        <p:spPr>
          <a:xfrm rot="7001246" flipH="1" flipV="1">
            <a:off x="9851018" y="7913251"/>
            <a:ext cx="9842133" cy="8229600"/>
          </a:xfrm>
          <a:custGeom>
            <a:avLst/>
            <a:gdLst/>
            <a:ahLst/>
            <a:cxnLst/>
            <a:rect l="l" t="t" r="r" b="b"/>
            <a:pathLst>
              <a:path w="9842133" h="8229600">
                <a:moveTo>
                  <a:pt x="9842134" y="8229600"/>
                </a:moveTo>
                <a:lnTo>
                  <a:pt x="0" y="8229600"/>
                </a:lnTo>
                <a:lnTo>
                  <a:pt x="0" y="0"/>
                </a:lnTo>
                <a:lnTo>
                  <a:pt x="9842134" y="0"/>
                </a:lnTo>
                <a:lnTo>
                  <a:pt x="9842134" y="8229600"/>
                </a:lnTo>
                <a:close/>
              </a:path>
            </a:pathLst>
          </a:custGeom>
          <a:blipFill>
            <a:blip r:embed="rId3"/>
            <a:stretch>
              <a:fillRect t="-7405" b="-7405"/>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713</Words>
  <Application>Microsoft Office PowerPoint</Application>
  <PresentationFormat>Custom</PresentationFormat>
  <Paragraphs>113</Paragraphs>
  <Slides>21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Bricolage Grotesque Medium</vt:lpstr>
      <vt:lpstr>Inter</vt:lpstr>
      <vt:lpstr>League Spartan</vt:lpstr>
      <vt:lpstr>Bricolage Grotesque Bold</vt:lpstr>
      <vt:lpstr>Arial</vt:lpstr>
      <vt:lpstr>DM Sans Bold</vt:lpstr>
      <vt:lpstr>Montserrat</vt:lpstr>
      <vt:lpstr>Bricolage Grotesque</vt:lpstr>
      <vt:lpstr>Calibri</vt:lpstr>
      <vt:lpstr>Inter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Modern Data Analyst Presentation</dc:title>
  <cp:lastModifiedBy>adelia ekarle waangsir</cp:lastModifiedBy>
  <cp:revision>3</cp:revision>
  <dcterms:created xsi:type="dcterms:W3CDTF">2006-08-16T00:00:00Z</dcterms:created>
  <dcterms:modified xsi:type="dcterms:W3CDTF">2026-09-14T18:58:45Z</dcterms:modified>
  <dc:identifier>DAHU5sgXi1w</dc:identifier>
</cp:coreProperties>
</file>